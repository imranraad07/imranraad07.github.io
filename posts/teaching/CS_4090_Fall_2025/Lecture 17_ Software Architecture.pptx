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CF53F5-A551-4D32-8906-8F3A09216C5D}">
  <a:tblStyle styleId="{5CCF53F5-A551-4D32-8906-8F3A09216C5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cd44d068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cd44d068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238149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d238149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cd44d068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cd44d068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cd44d068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cd44d068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d44d068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cd44d068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cee2ad43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cee2ad43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cee2ad43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cee2ad4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Reflection: </a:t>
            </a: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did WhatsApp scale from 50M to 2B users? Microservices and event-driven architecture were crucial.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2381490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d238149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d2381490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d2381490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2381490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d2381490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2381490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d2381490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d2381490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d2381490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d2381490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d2381490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827f1173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827f117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827f1173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827f1173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d2381490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d2381490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2381490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d2381490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827f1173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827f1173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827f1173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827f1173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2381490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d2381490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d2381490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d2381490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f763c6ae3feab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f763c6ae3feab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d2381490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d2381490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d2381490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d2381490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d2381490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d2381490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2381490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2381490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d2381490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d2381490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d2381490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d2381490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d2381490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d2381490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d2381490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d2381490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827f1173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827f1173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827f1173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827f1173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827f1173b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827f1173b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827f1173b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827f1173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827f1173b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827f1173b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827f1173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827f1173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827f1173b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827f1173b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827f1173b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827f1173b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ws.amazon.com/microservic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ws.amazon.com/what-is/service-oriented-architecture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share.google/dMoX3W9NTleqVwZJW" TargetMode="External"/><Relationship Id="rId4" Type="http://schemas.openxmlformats.org/officeDocument/2006/relationships/hyperlink" Target="https://share.google/pyANc3WfRtnFLjPAR" TargetMode="External"/><Relationship Id="rId5" Type="http://schemas.openxmlformats.org/officeDocument/2006/relationships/hyperlink" Target="https://share.google/GznZHFfGH2QuuuljC" TargetMode="External"/><Relationship Id="rId6" Type="http://schemas.openxmlformats.org/officeDocument/2006/relationships/hyperlink" Target="https://share.google/d995U6VCwgmuKyBc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21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17: </a:t>
            </a:r>
            <a:r>
              <a:rPr lang="en"/>
              <a:t>Software Architecture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“From design decisions to system blueprints”</a:t>
            </a:r>
            <a:endParaRPr sz="2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148727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Mohammad Imran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</a:t>
            </a:r>
            <a:r>
              <a:rPr lang="en"/>
              <a:t> Software Design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Software design bridges requirements and implementation.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">
                <a:solidFill>
                  <a:schemeClr val="dk1"/>
                </a:solidFill>
              </a:rPr>
              <a:t>Design transforms 'what' into 'how'.</a:t>
            </a:r>
            <a:endParaRPr b="1" i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Key concern: managing complexity early.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Design to Architecture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Software Design: How each component works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Software Architecture: How all components fit together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11700" y="24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968400"/>
                <a:gridCol w="2922750"/>
                <a:gridCol w="36294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Algorithms, data structures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module, sorting function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Structure, interaction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app with APIs and databases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" name="Google Shape;74;p16"/>
          <p:cNvSpPr txBox="1"/>
          <p:nvPr/>
        </p:nvSpPr>
        <p:spPr>
          <a:xfrm>
            <a:off x="1418225" y="4247700"/>
            <a:ext cx="563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“Design builds rooms; architecture builds the city.”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 Architecture?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1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u="sng">
                <a:solidFill>
                  <a:srgbClr val="38761D"/>
                </a:solidFill>
              </a:rPr>
              <a:t>The high-level structure of a software system, defining its components, relationships, and guiding principles</a:t>
            </a:r>
            <a:r>
              <a:rPr b="1" i="1" lang="en" u="sng">
                <a:solidFill>
                  <a:schemeClr val="dk1"/>
                </a:solidFill>
              </a:rPr>
              <a:t>.</a:t>
            </a:r>
            <a:endParaRPr b="1" i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Architecture addresses: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Organization of components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Communication and dependencies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Quality attributes (performance, scalability, modifiability)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Technology and infrastructure choices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Architectural vs Detailed Design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311700" y="11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555450"/>
                <a:gridCol w="3090725"/>
                <a:gridCol w="39997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Architectural Design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Detailed Design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Concern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Components, interfaces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Algorithms, data structures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Entire system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Individual modules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diagrams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UML class/sequence diagrams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Views and Viewpoints: 4+1 View Model (Kruchten)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Views are framed through </a:t>
            </a:r>
            <a:r>
              <a:rPr b="1" i="1" lang="en">
                <a:solidFill>
                  <a:srgbClr val="0000FF"/>
                </a:solidFill>
              </a:rPr>
              <a:t>viewpoints</a:t>
            </a:r>
            <a:r>
              <a:rPr lang="en">
                <a:solidFill>
                  <a:srgbClr val="0000FF"/>
                </a:solidFill>
              </a:rPr>
              <a:t>: perspectives of different stakeholders (e.g., user, developer, tester)</a:t>
            </a:r>
            <a:endParaRPr>
              <a:solidFill>
                <a:srgbClr val="0000FF"/>
              </a:solidFill>
            </a:endParaRPr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311700" y="227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540450"/>
                <a:gridCol w="3225300"/>
                <a:gridCol w="3754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Logical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Functional structure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Rider, Driver, Matching engine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Concurrency, runtime behavior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tracking, pricing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organization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Trip, Payment, Notification services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Physical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servers, CDNs, containers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 (+1)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End-user scenarios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“Book a ride,” “Watch a movie”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Netflix</a:t>
            </a:r>
            <a:endParaRPr/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311700" y="136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546000"/>
                <a:gridCol w="69746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Logical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Search, Recommendation, Playback modules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Load balancing, concurrency, fault tolerance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Microservices for each feature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Physical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cloud</a:t>
                      </a: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global CDN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“Watch movie on mobile” supports streaming, caching, DRM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20"/>
          <p:cNvSpPr txBox="1"/>
          <p:nvPr/>
        </p:nvSpPr>
        <p:spPr>
          <a:xfrm>
            <a:off x="1857700" y="4347125"/>
            <a:ext cx="44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85200C"/>
                </a:solidFill>
                <a:latin typeface="Calibri"/>
                <a:ea typeface="Calibri"/>
                <a:cs typeface="Calibri"/>
                <a:sym typeface="Calibri"/>
              </a:rPr>
              <a:t>What happens when </a:t>
            </a:r>
            <a:r>
              <a:rPr i="1" lang="en" sz="1800">
                <a:solidFill>
                  <a:srgbClr val="85200C"/>
                </a:solidFill>
                <a:latin typeface="Calibri"/>
                <a:ea typeface="Calibri"/>
                <a:cs typeface="Calibri"/>
                <a:sym typeface="Calibri"/>
              </a:rPr>
              <a:t>AWS cloud is down?</a:t>
            </a:r>
            <a:endParaRPr sz="1800">
              <a:solidFill>
                <a:srgbClr val="8520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Architectural Styles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509375" y="4199825"/>
            <a:ext cx="74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Reflection: </a:t>
            </a: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did WhatsApp scale from 50M to 2B users? 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Layered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Client-Server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Microservices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Event-Driven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Service-Oriented (SOA)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Model-Based (MVC, MVP, MVVM)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Layered Architecture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Organized into hierarchical layers, each with specific responsibility.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Typical Layers: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Presentation → Business Logic → Data Access → Database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Clear separation of concerns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Easy maintenance and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Standardized 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Slower performance due to multiple layers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Harder to skip layers when needed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Traditional web or enterprise applications.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Client-Server Architecture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Two-tier communication model between requesters and providers.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Client ↔ Server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Centralized control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Easier security management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Server bottleneck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Limited scalability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Email systems, database servers, early web apps.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 Architecture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System divided into independent, deployable services communicating via APIs.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Service A | Service B | Service C 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↕ 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API Gateway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Scalable and resilient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Independent deployment and maintenance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Enables different technologies per service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Complex communication management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Difficult to test end-to-end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Real Example:</a:t>
            </a:r>
            <a:r>
              <a:rPr lang="en">
                <a:solidFill>
                  <a:schemeClr val="dk1"/>
                </a:solidFill>
              </a:rPr>
              <a:t> Netflix, Amazon, Uber.</a:t>
            </a:r>
            <a:endParaRPr/>
          </a:p>
        </p:txBody>
      </p:sp>
      <p:sp>
        <p:nvSpPr>
          <p:cNvPr id="126" name="Google Shape;126;p24"/>
          <p:cNvSpPr txBox="1"/>
          <p:nvPr/>
        </p:nvSpPr>
        <p:spPr>
          <a:xfrm>
            <a:off x="4903800" y="4374500"/>
            <a:ext cx="39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https://aws.amazon.com/microservices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Event-Driven Architecture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Components communicate asynchronously through events.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Publisher → Event Bus → Subscriber(s)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Loose coupling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High responsiveness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Scalable for distributed systems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Debugging complexity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Event tracing difficulty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WhatsApp messaging, stock trading systems, IoT networks.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Service-Oriented Architecture (SOA)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System functions are exposed as reusable network services.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Service Provider ↔ Service Registry ↔ Service Requester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Promotes reuse and integration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Works across heterogeneous systems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Performance overhead (SOAP/XML)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Complex governance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Enterprise resource planning, e-government systems.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5832300" y="4184875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https://aws.amazon.com/what-is/service-oriented-architecture/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Model-View-Controller (MVC)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56208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Separates user interface, logic, and 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Model:</a:t>
            </a:r>
            <a:r>
              <a:rPr lang="en">
                <a:solidFill>
                  <a:schemeClr val="dk1"/>
                </a:solidFill>
              </a:rPr>
              <a:t> Holds data and business logic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View:</a:t>
            </a:r>
            <a:r>
              <a:rPr lang="en">
                <a:solidFill>
                  <a:schemeClr val="dk1"/>
                </a:solidFill>
              </a:rPr>
              <a:t> Displays data and receives user input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Controller:</a:t>
            </a:r>
            <a:r>
              <a:rPr lang="en">
                <a:solidFill>
                  <a:schemeClr val="dk1"/>
                </a:solidFill>
              </a:rPr>
              <a:t> Handles user input, updates the model, and determines which view to render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 Flow: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Char char="●"/>
            </a:pPr>
            <a:r>
              <a:rPr lang="en">
                <a:solidFill>
                  <a:srgbClr val="188038"/>
                </a:solidFill>
              </a:rPr>
              <a:t>User → Controller → Model → View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 interacts with View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Controller processes input and updates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notifies View of changes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r>
              <a:rPr lang="en">
                <a:solidFill>
                  <a:schemeClr val="dk1"/>
                </a:solidFill>
              </a:rPr>
              <a:t> Django, Spring MVC, Ruby on Rails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100" y="1060625"/>
            <a:ext cx="2929188" cy="322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Model-View-Controller (MVC)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55914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Pros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Clear separation of concerns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Code reusability, as different Views can use the same Model and Controller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Supports parallel development, allowing UI designers and developers to work independently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Cons: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Tight coupling between View and Controller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Can become complex as the application grows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100" y="1152475"/>
            <a:ext cx="2929188" cy="322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Model-View-Presenter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54684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Presenter mediates between View and Model for UI testability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View ↔ Presenter ↔ Model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Model:</a:t>
            </a:r>
            <a:r>
              <a:rPr lang="en">
                <a:solidFill>
                  <a:schemeClr val="dk1"/>
                </a:solidFill>
              </a:rPr>
              <a:t> Same as in MVC.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View:</a:t>
            </a:r>
            <a:r>
              <a:rPr lang="en">
                <a:solidFill>
                  <a:schemeClr val="dk1"/>
                </a:solidFill>
              </a:rPr>
              <a:t> Interface or UI that delegates user input handling to the </a:t>
            </a:r>
            <a:r>
              <a:rPr b="1" lang="en">
                <a:solidFill>
                  <a:schemeClr val="dk1"/>
                </a:solidFill>
              </a:rPr>
              <a:t>Presenter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Presenter:</a:t>
            </a:r>
            <a:r>
              <a:rPr lang="en">
                <a:solidFill>
                  <a:schemeClr val="dk1"/>
                </a:solidFill>
              </a:rPr>
              <a:t> Acts as an intermediary; retrieves data from </a:t>
            </a:r>
            <a:r>
              <a:rPr b="1" lang="en">
                <a:solidFill>
                  <a:schemeClr val="dk1"/>
                </a:solidFill>
              </a:rPr>
              <a:t>Model</a:t>
            </a:r>
            <a:r>
              <a:rPr lang="en">
                <a:solidFill>
                  <a:schemeClr val="dk1"/>
                </a:solidFill>
              </a:rPr>
              <a:t> and updates </a:t>
            </a: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Android mobile apps, desktop GUIs.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9288" r="12653" t="12617"/>
          <a:stretch/>
        </p:blipFill>
        <p:spPr>
          <a:xfrm>
            <a:off x="5810200" y="540950"/>
            <a:ext cx="3052074" cy="19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/>
        </p:nvSpPr>
        <p:spPr>
          <a:xfrm>
            <a:off x="5518025" y="2700900"/>
            <a:ext cx="33996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interacts with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delegates events to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manipulates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updates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directly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Model-View-Presenter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42603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 is passive (no logic inside it)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Easier to test since </a:t>
            </a:r>
            <a:r>
              <a:rPr b="1" lang="en">
                <a:solidFill>
                  <a:schemeClr val="dk1"/>
                </a:solidFill>
              </a:rPr>
              <a:t>Presenter</a:t>
            </a:r>
            <a:r>
              <a:rPr lang="en">
                <a:solidFill>
                  <a:schemeClr val="dk1"/>
                </a:solidFill>
              </a:rPr>
              <a:t> can be unit tested without UI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Presenter</a:t>
            </a:r>
            <a:r>
              <a:rPr lang="en">
                <a:solidFill>
                  <a:schemeClr val="dk1"/>
                </a:solidFill>
              </a:rPr>
              <a:t> can become bloated if not managed properly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Tight binding between </a:t>
            </a: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Presenter</a:t>
            </a:r>
            <a:r>
              <a:rPr lang="en">
                <a:solidFill>
                  <a:schemeClr val="dk1"/>
                </a:solidFill>
              </a:rPr>
              <a:t> interfaces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3">
            <a:alphaModFix/>
          </a:blip>
          <a:srcRect b="0" l="9288" r="12653" t="12617"/>
          <a:stretch/>
        </p:blipFill>
        <p:spPr>
          <a:xfrm>
            <a:off x="4729750" y="1664525"/>
            <a:ext cx="4102550" cy="264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Model-View-ViewModel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ViewModel exposes observable data for automatic UI updates.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User → View ↔ ViewModel ↔ Model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Structure: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Model:</a:t>
            </a:r>
            <a:r>
              <a:rPr lang="en">
                <a:solidFill>
                  <a:schemeClr val="dk1"/>
                </a:solidFill>
              </a:rPr>
              <a:t> Same as MVC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View:</a:t>
            </a:r>
            <a:r>
              <a:rPr lang="en">
                <a:solidFill>
                  <a:schemeClr val="dk1"/>
                </a:solidFill>
              </a:rPr>
              <a:t> UI layer bound to </a:t>
            </a:r>
            <a:r>
              <a:rPr b="1" lang="en">
                <a:solidFill>
                  <a:schemeClr val="dk1"/>
                </a:solidFill>
              </a:rPr>
              <a:t>ViewModel</a:t>
            </a:r>
            <a:r>
              <a:rPr lang="en">
                <a:solidFill>
                  <a:schemeClr val="dk1"/>
                </a:solidFill>
              </a:rPr>
              <a:t> properties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ViewModel:</a:t>
            </a:r>
            <a:r>
              <a:rPr lang="en">
                <a:solidFill>
                  <a:schemeClr val="dk1"/>
                </a:solidFill>
              </a:rPr>
              <a:t> Exposes data and commands for the </a:t>
            </a: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, handling presentation logic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 Flow: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ViewModel</a:t>
            </a:r>
            <a:r>
              <a:rPr lang="en">
                <a:solidFill>
                  <a:schemeClr val="dk1"/>
                </a:solidFill>
              </a:rPr>
              <a:t> communicate via </a:t>
            </a:r>
            <a:r>
              <a:rPr b="1" lang="en">
                <a:solidFill>
                  <a:schemeClr val="dk1"/>
                </a:solidFill>
              </a:rPr>
              <a:t>data binding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Changes in </a:t>
            </a:r>
            <a:r>
              <a:rPr b="1" lang="en">
                <a:solidFill>
                  <a:schemeClr val="dk1"/>
                </a:solidFill>
              </a:rPr>
              <a:t>Model</a:t>
            </a:r>
            <a:r>
              <a:rPr lang="en">
                <a:solidFill>
                  <a:schemeClr val="dk1"/>
                </a:solidFill>
              </a:rPr>
              <a:t> automatically reflect in </a:t>
            </a:r>
            <a:r>
              <a:rPr b="1" lang="en">
                <a:solidFill>
                  <a:schemeClr val="dk1"/>
                </a:solidFill>
              </a:rPr>
              <a:t>View</a:t>
            </a:r>
            <a:r>
              <a:rPr lang="en">
                <a:solidFill>
                  <a:schemeClr val="dk1"/>
                </a:solidFill>
              </a:rPr>
              <a:t> and vice versa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r>
              <a:rPr lang="en">
                <a:solidFill>
                  <a:schemeClr val="dk1"/>
                </a:solidFill>
              </a:rPr>
              <a:t> Angular, React, SwiftUI, Jetpack Compose (Android).</a:t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 rotWithShape="1">
          <a:blip r:embed="rId3">
            <a:alphaModFix/>
          </a:blip>
          <a:srcRect b="8887" l="11748" r="12211" t="52985"/>
          <a:stretch/>
        </p:blipFill>
        <p:spPr>
          <a:xfrm>
            <a:off x="4572000" y="1573025"/>
            <a:ext cx="4572000" cy="1177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Model-View-ViewModel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4237500" cy="3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Minimizes glue code with data binding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High testability of logic (ViewModel independent of UI framework)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Promotes reactive programming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Data binding can introduce hidden performance or debugging issues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Overkill for small applications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3">
            <a:alphaModFix/>
          </a:blip>
          <a:srcRect b="8887" l="11748" r="12211" t="52985"/>
          <a:stretch/>
        </p:blipFill>
        <p:spPr>
          <a:xfrm>
            <a:off x="4572000" y="1573025"/>
            <a:ext cx="4572000" cy="11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difference?</a:t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375" y="1228025"/>
            <a:ext cx="7219251" cy="37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EventBus Pattern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More of a Software Design Pattern than a Architecture (can be in-between, depends)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Enables asynchronous communication between components via a centralized bus.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188038"/>
                </a:solidFill>
              </a:rPr>
              <a:t>Publisher → EventBus → Subscriber(s)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Decoupled communication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Ideal for event-driven systems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Limitations: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Difficult debugging and lifecycle management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Examples:</a:t>
            </a:r>
            <a:r>
              <a:rPr lang="en">
                <a:solidFill>
                  <a:schemeClr val="dk1"/>
                </a:solidFill>
              </a:rPr>
              <a:t> Android EventBus, RabbitMQ, Kafka.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graphicFrame>
        <p:nvGraphicFramePr>
          <p:cNvPr id="200" name="Google Shape;200;p35"/>
          <p:cNvGraphicFramePr/>
          <p:nvPr/>
        </p:nvGraphicFramePr>
        <p:xfrm>
          <a:off x="311700" y="11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429400"/>
                <a:gridCol w="2669625"/>
                <a:gridCol w="1249875"/>
                <a:gridCol w="1679925"/>
                <a:gridCol w="14917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Idea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Binding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MVC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Controller coordinates model &amp; view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apps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Django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MVP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Presenter handles logic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apps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MVVM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ViewModel exposes reactive data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Reactive UI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React, Angular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EventBus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Event-driven async messaging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 events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Kafka, EventBus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Interview!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1152475"/>
            <a:ext cx="85206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System Design Interview (questions, process, prep) - IGotAnOffer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https://share.google/dMoX3W9NTleqVwZJW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Amazon System Design Interview Questions - GeeksforGeeks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https://share.google/pyANc3WfRtnFLjPAR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45 system design questions I curated for interviews : r/leetcode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https://share.google/GznZHFfGH2QuuuljC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Cracking Amazon System Design Interview: Top Questions and Answer - DEV Community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https://share.google/d995U6VCwgmuKyBcL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Pet/Baby Monitor Android Application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What are the functionalities?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Pet/Baby Monitor Android Application</a:t>
            </a:r>
            <a:endParaRPr/>
          </a:p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311700" y="1152475"/>
            <a:ext cx="8520600" cy="25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are the functionalities?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Live Video Streaming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Audio Monitoring and Talkback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Motion and Sound Alerts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Night Mode / Infrared Integration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Recording and Playback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Multi-device Support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Build a Pet/Baby Monitor Android Application</a:t>
            </a:r>
            <a:endParaRPr/>
          </a:p>
        </p:txBody>
      </p:sp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Non-functional Requirements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25" name="Google Shape;225;p39"/>
          <p:cNvGraphicFramePr/>
          <p:nvPr/>
        </p:nvGraphicFramePr>
        <p:xfrm>
          <a:off x="311700" y="181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2287550"/>
                <a:gridCol w="6233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streaming (&lt;300 ms latency)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Scalability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multiple concurrent video streams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 reconnection if connection drops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End-to-end encryption (TLS + authentication)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 micro-feature architecture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Usability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Simple, intuitive interface (declarative UI)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Architecture</a:t>
            </a:r>
            <a:endParaRPr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What’s the Architecture here?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Architecture</a:t>
            </a:r>
            <a:endParaRPr/>
          </a:p>
        </p:txBody>
      </p:sp>
      <p:sp>
        <p:nvSpPr>
          <p:cNvPr id="237" name="Google Shape;237;p41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What’s the Architecture here?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MVVM</a:t>
            </a:r>
            <a:r>
              <a:rPr lang="en">
                <a:solidFill>
                  <a:schemeClr val="dk1"/>
                </a:solidFill>
              </a:rPr>
              <a:t> enables clean UI-state separation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Event-driven messaging</a:t>
            </a:r>
            <a:r>
              <a:rPr lang="en">
                <a:solidFill>
                  <a:schemeClr val="dk1"/>
                </a:solidFill>
              </a:rPr>
              <a:t> supports push alerts and asynchronous updates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Cloud microservices</a:t>
            </a:r>
            <a:r>
              <a:rPr lang="en">
                <a:solidFill>
                  <a:schemeClr val="dk1"/>
                </a:solidFill>
              </a:rPr>
              <a:t> enable scalable backend processing (e.g., storage)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Architecture Diagram</a:t>
            </a:r>
            <a:endParaRPr/>
          </a:p>
        </p:txBody>
      </p:sp>
      <p:pic>
        <p:nvPicPr>
          <p:cNvPr id="243" name="Google Shape;2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675" y="1223000"/>
            <a:ext cx="6970660" cy="377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Layered Architecture</a:t>
            </a:r>
            <a:endParaRPr/>
          </a:p>
        </p:txBody>
      </p:sp>
      <p:graphicFrame>
        <p:nvGraphicFramePr>
          <p:cNvPr id="249" name="Google Shape;249;p43"/>
          <p:cNvGraphicFramePr/>
          <p:nvPr/>
        </p:nvGraphicFramePr>
        <p:xfrm>
          <a:off x="311700" y="11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2211300"/>
                <a:gridCol w="2510350"/>
                <a:gridCol w="37989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Components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Responsibility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 Layer 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Jetpack Compose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Displays live stream, alerts, and control actions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Layer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ViewModel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Holds state, communicates with repository, observes camera feed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Layer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Repository, Retrofit, WebSocket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Manages API calls, WebSocket connections, local cache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Services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Firebase / AWS / Custom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Handles authentication, stream relay, push notifications, storage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</a:t>
            </a:r>
            <a:endParaRPr/>
          </a:p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311700" y="1152475"/>
            <a:ext cx="8520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Unidirectional Flow (MVVM + EventBus pattern)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">
                <a:solidFill>
                  <a:schemeClr val="dk1"/>
                </a:solidFill>
              </a:rPr>
              <a:t>Camera device publishes events</a:t>
            </a:r>
            <a:r>
              <a:rPr lang="en">
                <a:solidFill>
                  <a:schemeClr val="dk1"/>
                </a:solidFill>
              </a:rPr>
              <a:t> (motion, sound, video frames)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">
                <a:solidFill>
                  <a:schemeClr val="dk1"/>
                </a:solidFill>
              </a:rPr>
              <a:t>Cloud service routes data</a:t>
            </a:r>
            <a:r>
              <a:rPr lang="en">
                <a:solidFill>
                  <a:schemeClr val="dk1"/>
                </a:solidFill>
              </a:rPr>
              <a:t> via WebSocket and Notification APIs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">
                <a:solidFill>
                  <a:schemeClr val="dk1"/>
                </a:solidFill>
              </a:rPr>
              <a:t>Repository</a:t>
            </a:r>
            <a:r>
              <a:rPr lang="en">
                <a:solidFill>
                  <a:schemeClr val="dk1"/>
                </a:solidFill>
              </a:rPr>
              <a:t> subscribes to events and updates the </a:t>
            </a:r>
            <a:r>
              <a:rPr b="1" lang="en">
                <a:solidFill>
                  <a:schemeClr val="dk1"/>
                </a:solidFill>
              </a:rPr>
              <a:t>ViewModel state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">
                <a:solidFill>
                  <a:schemeClr val="dk1"/>
                </a:solidFill>
              </a:rPr>
              <a:t>Compose UI</a:t>
            </a:r>
            <a:r>
              <a:rPr lang="en">
                <a:solidFill>
                  <a:schemeClr val="dk1"/>
                </a:solidFill>
              </a:rPr>
              <a:t> re-renders automatically based on updated state</a:t>
            </a:r>
            <a:endParaRPr/>
          </a:p>
        </p:txBody>
      </p:sp>
      <p:sp>
        <p:nvSpPr>
          <p:cNvPr id="256" name="Google Shape;256;p44"/>
          <p:cNvSpPr txBox="1"/>
          <p:nvPr/>
        </p:nvSpPr>
        <p:spPr>
          <a:xfrm>
            <a:off x="2092375" y="2980425"/>
            <a:ext cx="4044900" cy="184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Camera detects motion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→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EventBus publishes event →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Backend sends Firebase notification →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Repository receives alert →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ViewModel updates UI →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User notified instantly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</a:t>
            </a:r>
            <a:endParaRPr/>
          </a:p>
        </p:txBody>
      </p:sp>
      <p:sp>
        <p:nvSpPr>
          <p:cNvPr id="262" name="Google Shape;262;p45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UI Layer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88038"/>
                </a:solidFill>
              </a:rPr>
              <a:t>LiveFeedScreen</a:t>
            </a:r>
            <a:r>
              <a:rPr lang="en">
                <a:solidFill>
                  <a:schemeClr val="dk1"/>
                </a:solidFill>
              </a:rPr>
              <a:t>: Displays video stream and controls (mute, talkback)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88038"/>
                </a:solidFill>
              </a:rPr>
              <a:t>AlertScreen</a:t>
            </a:r>
            <a:r>
              <a:rPr lang="en">
                <a:solidFill>
                  <a:schemeClr val="dk1"/>
                </a:solidFill>
              </a:rPr>
              <a:t>: Lists motion/sound alerts chronologically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88038"/>
                </a:solidFill>
              </a:rPr>
              <a:t>SettingsScreen</a:t>
            </a:r>
            <a:r>
              <a:rPr lang="en">
                <a:solidFill>
                  <a:schemeClr val="dk1"/>
                </a:solidFill>
              </a:rPr>
              <a:t>: Camera pairing, sensitivity, and alert preferences</a:t>
            </a:r>
            <a:endParaRPr/>
          </a:p>
        </p:txBody>
      </p:sp>
      <p:sp>
        <p:nvSpPr>
          <p:cNvPr id="263" name="Google Shape;263;p45"/>
          <p:cNvSpPr txBox="1"/>
          <p:nvPr/>
        </p:nvSpPr>
        <p:spPr>
          <a:xfrm>
            <a:off x="264650" y="2764725"/>
            <a:ext cx="85443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@Composable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 LiveFeedScreen(viewModel: MonitorViewModel)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val uiState = viewModel.uiState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VideoStream(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uiState.streamUrl)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(uiState.alertActive) AlertBanner(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uiState.alertMessage)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</a:t>
            </a:r>
            <a:endParaRPr/>
          </a:p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ViewModel Layer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Maintains observable UI state (</a:t>
            </a:r>
            <a:r>
              <a:rPr lang="en">
                <a:solidFill>
                  <a:srgbClr val="188038"/>
                </a:solidFill>
              </a:rPr>
              <a:t>StateFlow / LiveData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Interacts with repository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Handles reconnection logic and state persistence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264650" y="2764725"/>
            <a:ext cx="85443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MonitorViewModel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MonitorRepository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: ViewModel()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val uiState = repository.streamState.stateIn(viewModelScope, SharingStarted.Eagerly, defaultState)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fun reconnect() = repository.reconnectStream()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</a:t>
            </a:r>
            <a:endParaRPr/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Repository Layer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Uses </a:t>
            </a:r>
            <a:r>
              <a:rPr b="1" lang="en">
                <a:solidFill>
                  <a:schemeClr val="dk1"/>
                </a:solidFill>
              </a:rPr>
              <a:t>Retrofit</a:t>
            </a:r>
            <a:r>
              <a:rPr lang="en">
                <a:solidFill>
                  <a:schemeClr val="dk1"/>
                </a:solidFill>
              </a:rPr>
              <a:t> for RESTful APIs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WebSocket</a:t>
            </a:r>
            <a:r>
              <a:rPr lang="en">
                <a:solidFill>
                  <a:schemeClr val="dk1"/>
                </a:solidFill>
              </a:rPr>
              <a:t> for real-time streaming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Integrates </a:t>
            </a:r>
            <a:r>
              <a:rPr b="1" lang="en">
                <a:solidFill>
                  <a:schemeClr val="dk1"/>
                </a:solidFill>
              </a:rPr>
              <a:t>Room Database</a:t>
            </a:r>
            <a:r>
              <a:rPr lang="en">
                <a:solidFill>
                  <a:schemeClr val="dk1"/>
                </a:solidFill>
              </a:rPr>
              <a:t> for offline caching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Services</a:t>
            </a:r>
            <a:endParaRPr/>
          </a:p>
        </p:txBody>
      </p:sp>
      <p:graphicFrame>
        <p:nvGraphicFramePr>
          <p:cNvPr id="282" name="Google Shape;282;p48"/>
          <p:cNvGraphicFramePr/>
          <p:nvPr/>
        </p:nvGraphicFramePr>
        <p:xfrm>
          <a:off x="311700" y="14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2521050"/>
                <a:gridCol w="53439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Service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video relay using WebRTC or RTSP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 Service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Sends Firebase Cloud Messaging alerts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Service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Secure device pairing (JWT / OAuth2)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 Service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and metadata storage in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Detection Service (a new service)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Identifies abnormal patterns (crying, barking)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Handling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1152475"/>
            <a:ext cx="85206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Ensures decoupled communication between app modules.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Example events: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188038"/>
                </a:solidFill>
              </a:rPr>
              <a:t>MotionDetectedEvent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188038"/>
                </a:solidFill>
              </a:rPr>
              <a:t>SoundDetectedEvent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188038"/>
                </a:solidFill>
              </a:rPr>
              <a:t>StreamDisconnectedEvent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Implementation:</a:t>
            </a:r>
            <a:r>
              <a:rPr lang="en">
                <a:solidFill>
                  <a:schemeClr val="dk1"/>
                </a:solidFill>
              </a:rPr>
              <a:t> Using Kotlin coroutines + SharedFlow or a lightweight EventBus library.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Architecture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Encrypted video stream (TLS/SSL)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Authentication: Firebase Auth or OAuth2 tokens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Encrypted cloud storage for media files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Role-based access (e.g., Parent, Guest Viewer)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System Deployment</a:t>
            </a:r>
            <a:endParaRPr/>
          </a:p>
        </p:txBody>
      </p:sp>
      <p:sp>
        <p:nvSpPr>
          <p:cNvPr id="300" name="Google Shape;300;p51"/>
          <p:cNvSpPr txBox="1"/>
          <p:nvPr>
            <p:ph idx="1" type="body"/>
          </p:nvPr>
        </p:nvSpPr>
        <p:spPr>
          <a:xfrm>
            <a:off x="356350" y="2120219"/>
            <a:ext cx="8520600" cy="28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WebRTC</a:t>
            </a:r>
            <a:r>
              <a:rPr lang="en">
                <a:solidFill>
                  <a:schemeClr val="dk1"/>
                </a:solidFill>
              </a:rPr>
              <a:t> for low-latency video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real-time communication protocol enabling peer-to-peer audio, video, and data transfer directly between browsers or devices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MQTT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WebSocket</a:t>
            </a:r>
            <a:r>
              <a:rPr lang="en">
                <a:solidFill>
                  <a:schemeClr val="dk1"/>
                </a:solidFill>
              </a:rPr>
              <a:t> for event streaming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WebSocket: A full-duplex communication protocol that provides persistent, bidirectional connections between a client and a server over a single TCP connection → </a:t>
            </a:r>
            <a:r>
              <a:rPr b="1" lang="en">
                <a:solidFill>
                  <a:schemeClr val="dk1"/>
                </a:solidFill>
              </a:rPr>
              <a:t>WhatsApp use WebSocket on Desktop/Web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MQTT: A lightweight publish-subscribe messaging protocol designed for low-bandwidth, high-latency, or unreliable networks, commonly used in IoT → </a:t>
            </a:r>
            <a:r>
              <a:rPr b="1" lang="en">
                <a:solidFill>
                  <a:schemeClr val="dk1"/>
                </a:solidFill>
              </a:rPr>
              <a:t>WhatsApp use MQTT on Mobile devices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Firebase Cloud Messaging (FCM)</a:t>
            </a:r>
            <a:r>
              <a:rPr lang="en">
                <a:solidFill>
                  <a:schemeClr val="dk1"/>
                </a:solidFill>
              </a:rPr>
              <a:t> for alert delivery</a:t>
            </a:r>
            <a:endParaRPr/>
          </a:p>
        </p:txBody>
      </p:sp>
      <p:sp>
        <p:nvSpPr>
          <p:cNvPr id="301" name="Google Shape;301;p51"/>
          <p:cNvSpPr txBox="1"/>
          <p:nvPr/>
        </p:nvSpPr>
        <p:spPr>
          <a:xfrm>
            <a:off x="619500" y="1282319"/>
            <a:ext cx="79050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Mobile App → API Gateway → Cloud Services → IoT Camera</a:t>
            </a:r>
            <a:endParaRPr sz="180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↘ Push Notifications (Firebase)</a:t>
            </a:r>
            <a:endParaRPr sz="180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graphicFrame>
        <p:nvGraphicFramePr>
          <p:cNvPr id="307" name="Google Shape;307;p52"/>
          <p:cNvGraphicFramePr/>
          <p:nvPr/>
        </p:nvGraphicFramePr>
        <p:xfrm>
          <a:off x="3747775" y="123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{5CCF53F5-A551-4D32-8906-8F3A09216C5D}</a:tableStyleId>
              </a:tblPr>
              <a:tblGrid>
                <a:gridCol w="1735300"/>
                <a:gridCol w="3660925"/>
              </a:tblGrid>
              <a:tr h="32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Decision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Scalability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Stateless microservices + load balancer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Resilience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Retry/reconnect strategy in ViewModel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tokens + encrypted transport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MVVM separation + modular code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WebRTC + background streaming threads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52"/>
          <p:cNvSpPr txBox="1"/>
          <p:nvPr/>
        </p:nvSpPr>
        <p:spPr>
          <a:xfrm>
            <a:off x="311700" y="1231100"/>
            <a:ext cx="34086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MVVM + Event-driven communication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 Framework: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Jetpack Compose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Microservices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Patterns Used: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Repository, EventBus, Observer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Scalability, security, low latency, and modularity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