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4E8714-FC87-4F41-B1DE-F6BA0383C614}">
  <a:tblStyle styleId="{7B4E8714-FC87-4F41-B1DE-F6BA0383C61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9b704a5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9b704a5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50a296d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50a296d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50a296d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50a296d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50a296d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950a296dee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50a296d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950a296dee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0a296de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950a296dee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50a296de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950a296dee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50a296de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50a296dee_0_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50a296de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50a296de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50a296de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50a296de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50a296de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50a296de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50a296de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50a296de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50a296de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50a296de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50d739af3_1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50d739af3_1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50a296de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50a296de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50a296de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50a296de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2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imranraad07/cs4090-git-demo/blob/master/OOP/oop-complete-example.java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tackoverflow.com/questions/15176356/difference-between-encapsulation-and-abstraction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tackoverflow.com/questions/15176356/difference-between-encapsulation-and-abstractio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ackoverflow.com/questions/367276/what-is-the-difference-between-abstraction-and-polymorphism" TargetMode="External"/><Relationship Id="rId4" Type="http://schemas.openxmlformats.org/officeDocument/2006/relationships/hyperlink" Target="https://stackoverflow.com/questions/47483673/polymorphism-vs-abstraction-is-polymorphism-one-of-the-way-to-achieve-abstract" TargetMode="External"/><Relationship Id="rId5" Type="http://schemas.openxmlformats.org/officeDocument/2006/relationships/hyperlink" Target="https://stackoverflow.com/questions/10040069/abstract-class-vs-interface-in-java" TargetMode="External"/><Relationship Id="rId6" Type="http://schemas.openxmlformats.org/officeDocument/2006/relationships/hyperlink" Target="https://stackoverflow.com/questions/367276/what-is-the-difference-between-abstraction-and-polymorphis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tackoverflow.com/questions/10839131/implements-vs-extends-when-to-use-whats-the-differenc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stackoverflow.com/questions/10839131/implements-vs-extends-when-to-use-whats-the-differ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8" y="744575"/>
            <a:ext cx="8520600" cy="17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Lecture 15 - Object Oriented Programming</a:t>
            </a:r>
            <a:endParaRPr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2834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 Mohammad Imran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57200" y="206375"/>
            <a:ext cx="8229600" cy="52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talk about …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200150"/>
            <a:ext cx="8229600" cy="12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Object Oriented Programming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Design principles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Design patterns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457200" y="206375"/>
            <a:ext cx="8229600" cy="52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Oriented Programming: Recap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200150"/>
            <a:ext cx="8229600" cy="161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Object-Oriented Programming (OOP) is a programming paradigm based on the concept of objects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which can contain data (attributes) and code (methods).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OOP helps in structuring software in a </a:t>
            </a:r>
            <a:r>
              <a:rPr lang="en" u="sng">
                <a:solidFill>
                  <a:schemeClr val="dk1"/>
                </a:solidFill>
              </a:rPr>
              <a:t>modular, reusable, and maintainable</a:t>
            </a:r>
            <a:r>
              <a:rPr lang="en">
                <a:solidFill>
                  <a:schemeClr val="dk1"/>
                </a:solidFill>
              </a:rPr>
              <a:t> way.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457200" y="206375"/>
            <a:ext cx="8229600" cy="52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Principles of OOP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57200" y="1200150"/>
            <a:ext cx="8229600" cy="203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rgbClr val="0000FF"/>
                </a:solidFill>
              </a:rPr>
              <a:t>Encapsulation</a:t>
            </a:r>
            <a:r>
              <a:rPr lang="en">
                <a:solidFill>
                  <a:schemeClr val="dk1"/>
                </a:solidFill>
              </a:rPr>
              <a:t> – Bundling data and methods that operate on that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rgbClr val="0000FF"/>
                </a:solidFill>
              </a:rPr>
              <a:t>Inheritance</a:t>
            </a:r>
            <a:r>
              <a:rPr lang="en">
                <a:solidFill>
                  <a:schemeClr val="dk1"/>
                </a:solidFill>
              </a:rPr>
              <a:t> – Creating new classes from existing ones.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rgbClr val="0000FF"/>
                </a:solidFill>
              </a:rPr>
              <a:t>Polymorphism</a:t>
            </a:r>
            <a:r>
              <a:rPr lang="en">
                <a:solidFill>
                  <a:schemeClr val="dk1"/>
                </a:solidFill>
              </a:rPr>
              <a:t> – Using a single interface to represent different data types.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rgbClr val="0000FF"/>
                </a:solidFill>
              </a:rPr>
              <a:t>Abstraction</a:t>
            </a:r>
            <a:r>
              <a:rPr lang="en">
                <a:solidFill>
                  <a:schemeClr val="dk1"/>
                </a:solidFill>
              </a:rPr>
              <a:t> – Hiding complex implementation details and showing only essentials.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Encapsulation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57200" y="120015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</a:rPr>
              <a:t>Encapsulation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means keeping data (attributes) safe from outside interference.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62825" y="1648200"/>
            <a:ext cx="8229600" cy="2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Wallet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double balance;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Private = hidden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Wallet(double balance)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this.balance = balance;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double getBalance()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1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balance;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void addFunds(double amount)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this.balance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amount;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120015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</a:rPr>
              <a:t>Inheritance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allows a class to reuse methods and attributes of another class.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457196" y="1705814"/>
            <a:ext cx="8229600" cy="26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PaymentMethod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void process(double amount)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logger.log(</a:t>
            </a:r>
            <a:r>
              <a:rPr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"Processing payment: $"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amount);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CreditCardPayment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extends PaymentMethod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void process(double amount)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logger.log(</a:t>
            </a:r>
            <a:r>
              <a:rPr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"Paid $"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amount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with Credit Card."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 &amp; Abstraction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57200" y="120015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</a:rPr>
              <a:t>Polymorphism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Methods behave differently depending on the object.</a:t>
            </a: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457200" y="1609225"/>
            <a:ext cx="8260500" cy="341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interface PaymentMethod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void processPayment(double amount);}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CreditCardPayment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implements PaymentMethod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void processPayment(double amount)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logger.log(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"Paid $"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amount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with credit card."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PayPalPayment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implements PaymentMethod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void processPayment(double amount)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logger.log(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"Paid $"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amount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via PayPal."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PaymentMethod cc = new CreditCardPayment();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PaymentMethod pp = new PayPalPayment();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cc.processPayment(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pp.processPayment(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}}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5495400" y="3887375"/>
            <a:ext cx="3191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method call, different behavior depending on object type.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 &amp; Abstraction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457200" y="120015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</a:rPr>
              <a:t>Abstraction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>
                <a:solidFill>
                  <a:schemeClr val="dk1"/>
                </a:solidFill>
              </a:rPr>
              <a:t>Expose only what the user needs, and hide complex internal details</a:t>
            </a:r>
            <a:endParaRPr/>
          </a:p>
        </p:txBody>
      </p:sp>
      <p:sp>
        <p:nvSpPr>
          <p:cNvPr id="107" name="Google Shape;107;p21"/>
          <p:cNvSpPr txBox="1"/>
          <p:nvPr/>
        </p:nvSpPr>
        <p:spPr>
          <a:xfrm>
            <a:off x="457200" y="1609225"/>
            <a:ext cx="8229600" cy="340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abstract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PaymentMethod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abstract void processPayment(double amount);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protected void connectToGateway()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logger.log(</a:t>
            </a:r>
            <a:r>
              <a:rPr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"Connecting to payment gateway..."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WalletPayment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extends PaymentMethod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void processPayment(double amount)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connectToGateway(); 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Reuse hidden logic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logger.log(</a:t>
            </a:r>
            <a:r>
              <a:rPr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"Paid $"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amount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via Wallet"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PaymentMethod payment = new WalletPayment();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payment.processPayment(</a:t>
            </a:r>
            <a:r>
              <a:rPr lang="en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50.0</a:t>
            </a: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Example: A Simple </a:t>
            </a:r>
            <a:r>
              <a:rPr lang="en" sz="4400"/>
              <a:t>Java</a:t>
            </a:r>
            <a:r>
              <a:rPr lang="en" sz="4400">
                <a:solidFill>
                  <a:schemeClr val="dk1"/>
                </a:solidFill>
              </a:rPr>
              <a:t> Class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4604575" y="1163750"/>
            <a:ext cx="42015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File: PaymentSystem.java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 Abstraction: Abstract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defines what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"payment"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means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abstract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PaymentMethod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abstract void processPayment(double amount);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 Inheritance: Concrete classes extend the abstract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CreditCardPayment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extends PaymentMethod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void processPayment(double amount)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System.out.println(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"Processed $"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amount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using Credit Card."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[.......]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311700" y="1163750"/>
            <a:ext cx="420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https://github.com/imranraad07/cs4090-git-demo/blob/master/OOP/oop-complete-example.java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457200" y="206375"/>
            <a:ext cx="8229600" cy="95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Question: </a:t>
            </a:r>
            <a:r>
              <a:rPr lang="en"/>
              <a:t>Difference between Encapsulation and Abstraction?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457200" y="1200150"/>
            <a:ext cx="8229600" cy="68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https://stackoverflow.com/questions/15176356/difference-between-encapsulation-and-abstraction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457200" y="206375"/>
            <a:ext cx="8229600" cy="95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Question: </a:t>
            </a:r>
            <a:r>
              <a:rPr lang="en"/>
              <a:t>Difference between Encapsulation and Abstraction?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457200" y="1200150"/>
            <a:ext cx="8229600" cy="355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https://stackoverflow.com/questions/15176356/difference-between-encapsulation-and-abstraction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Encapsulation</a:t>
            </a:r>
            <a:r>
              <a:rPr lang="en">
                <a:solidFill>
                  <a:schemeClr val="dk1"/>
                </a:solidFill>
              </a:rPr>
              <a:t> hides variables or some implementation that may be changed so often </a:t>
            </a:r>
            <a:r>
              <a:rPr b="1" lang="en">
                <a:solidFill>
                  <a:schemeClr val="dk1"/>
                </a:solidFill>
              </a:rPr>
              <a:t>in a class</a:t>
            </a:r>
            <a:r>
              <a:rPr lang="en">
                <a:solidFill>
                  <a:schemeClr val="dk1"/>
                </a:solidFill>
              </a:rPr>
              <a:t> to prevent outsiders access it directly. They must access it via getter and setter methods.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Abstraction</a:t>
            </a:r>
            <a:r>
              <a:rPr lang="en">
                <a:solidFill>
                  <a:schemeClr val="dk1"/>
                </a:solidFill>
              </a:rPr>
              <a:t> is used to hide something too, but in a </a:t>
            </a:r>
            <a:r>
              <a:rPr b="1" lang="en">
                <a:solidFill>
                  <a:schemeClr val="dk1"/>
                </a:solidFill>
              </a:rPr>
              <a:t>higher degree (class, interface)</a:t>
            </a:r>
            <a:r>
              <a:rPr lang="en">
                <a:solidFill>
                  <a:schemeClr val="dk1"/>
                </a:solidFill>
              </a:rPr>
              <a:t>. Clients who use an abstract class (or interface) do not care about what it was, they just need to know what it can do.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457200" y="206375"/>
            <a:ext cx="8229600" cy="95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Question: </a:t>
            </a:r>
            <a:r>
              <a:rPr lang="en"/>
              <a:t>What's difference between abstraction and polymorphism?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457200" y="206375"/>
            <a:ext cx="8229600" cy="95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Question: </a:t>
            </a:r>
            <a:r>
              <a:rPr lang="en"/>
              <a:t>What's difference between abstraction and polymorphism?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457200" y="1200150"/>
            <a:ext cx="8229600" cy="259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https://stackoverflow.com/questions/367276/what-is-the-difference-between-abstraction-and-polymorphism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https://stackoverflow.com/questions/47483673/polymorphism-vs-abstraction-is-polymorphism-one-of-the-way-to-achieve-abstract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https://stackoverflow.com/questions/10040069/abstract-class-vs-interface-in-java</a:t>
            </a:r>
            <a:r>
              <a:rPr lang="en"/>
              <a:t>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https://stackoverflow.com/questions/367276/what-is-the-difference-between-abstraction-and-polymorphism</a:t>
            </a:r>
            <a:r>
              <a:rPr lang="en"/>
              <a:t> → </a:t>
            </a:r>
            <a:r>
              <a:rPr lang="en">
                <a:solidFill>
                  <a:schemeClr val="dk1"/>
                </a:solidFill>
              </a:rPr>
              <a:t>Let’s check this one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457200" y="206375"/>
            <a:ext cx="8229600" cy="95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What's difference between abstraction and polymorphism?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457200" y="1200150"/>
            <a:ext cx="8229600" cy="196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</a:rPr>
              <a:t>Abstraction provides the foundation (the interface or abstract class).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</a:rPr>
              <a:t>Polymorphism provides the behavior (the implementation and dynamic dispatch).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of it like this:</a:t>
            </a:r>
            <a:endParaRPr>
              <a:solidFill>
                <a:schemeClr val="dk1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Abstraction defines </a:t>
            </a:r>
            <a:r>
              <a:rPr b="1" lang="en">
                <a:solidFill>
                  <a:schemeClr val="dk1"/>
                </a:solidFill>
              </a:rPr>
              <a:t>the promise</a:t>
            </a:r>
            <a:r>
              <a:rPr lang="en">
                <a:solidFill>
                  <a:schemeClr val="dk1"/>
                </a:solidFill>
              </a:rPr>
              <a:t>, and polymorphism fulfills it in </a:t>
            </a:r>
            <a:r>
              <a:rPr b="1" lang="en">
                <a:solidFill>
                  <a:schemeClr val="dk1"/>
                </a:solidFill>
              </a:rPr>
              <a:t>different ways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  <p:graphicFrame>
        <p:nvGraphicFramePr>
          <p:cNvPr id="144" name="Google Shape;144;p27"/>
          <p:cNvGraphicFramePr/>
          <p:nvPr/>
        </p:nvGraphicFramePr>
        <p:xfrm>
          <a:off x="338138" y="320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{7B4E8714-FC87-4F41-B1DE-F6BA0383C614}</a:tableStyleId>
              </a:tblPr>
              <a:tblGrid>
                <a:gridCol w="1575800"/>
                <a:gridCol w="3243850"/>
                <a:gridCol w="2286000"/>
                <a:gridCol w="13620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Concept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Purpose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Mechanism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Abstraction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Hide complexity</a:t>
                      </a: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and expose only necessary features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Abstract classes</a:t>
                      </a: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and </a:t>
                      </a: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interfaces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abstract</a:t>
                      </a: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" sz="130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interface</a:t>
                      </a:r>
                      <a:endParaRPr sz="1300">
                        <a:solidFill>
                          <a:srgbClr val="18803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Polymorphism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behavior dynamically</a:t>
                      </a: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while using a common interface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Inheritance</a:t>
                      </a: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and </a:t>
                      </a:r>
                      <a:r>
                        <a:rPr b="1"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 overriding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extends</a:t>
                      </a: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" sz="130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implements</a:t>
                      </a:r>
                      <a:endParaRPr sz="1300">
                        <a:solidFill>
                          <a:srgbClr val="18803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457200" y="206375"/>
            <a:ext cx="8229600" cy="138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</a:t>
            </a:r>
            <a:r>
              <a:rPr lang="en"/>
              <a:t>The thing you can do with Inheritance, you can do with Polymorphism. What’s the actual difference then?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457200" y="206375"/>
            <a:ext cx="8229600" cy="95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</a:t>
            </a:r>
            <a:r>
              <a:rPr lang="en" u="sng"/>
              <a:t>implements</a:t>
            </a:r>
            <a:r>
              <a:rPr lang="en"/>
              <a:t> vs </a:t>
            </a:r>
            <a:r>
              <a:rPr lang="en" u="sng"/>
              <a:t>extends</a:t>
            </a:r>
            <a:r>
              <a:rPr lang="en"/>
              <a:t>: When to use? What's the difference?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457200" y="1200150"/>
            <a:ext cx="8229600" cy="68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https://stackoverflow.com/questions/10839131/implements-vs-extends-when-to-use-whats-the-difference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457200" y="206375"/>
            <a:ext cx="8229600" cy="95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</a:t>
            </a:r>
            <a:r>
              <a:rPr lang="en" u="sng"/>
              <a:t>implements</a:t>
            </a:r>
            <a:r>
              <a:rPr lang="en"/>
              <a:t> vs </a:t>
            </a:r>
            <a:r>
              <a:rPr lang="en" u="sng"/>
              <a:t>extends</a:t>
            </a:r>
            <a:r>
              <a:rPr lang="en"/>
              <a:t>: When to use? What's the difference?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457200" y="1200150"/>
            <a:ext cx="8229600" cy="322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https://stackoverflow.com/questions/10839131/implements-vs-extends-when-to-use-whats-the-difference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C0D0E"/>
                </a:solidFill>
                <a:highlight>
                  <a:srgbClr val="E3E6E8"/>
                </a:highlight>
              </a:rPr>
              <a:t>extends</a:t>
            </a:r>
            <a:r>
              <a:rPr lang="en">
                <a:solidFill>
                  <a:srgbClr val="0C0D0E"/>
                </a:solidFill>
                <a:highlight>
                  <a:srgbClr val="FFFFFF"/>
                </a:highlight>
              </a:rPr>
              <a:t> is for </a:t>
            </a:r>
            <a:r>
              <a:rPr i="1" lang="en">
                <a:solidFill>
                  <a:srgbClr val="0C0D0E"/>
                </a:solidFill>
                <a:highlight>
                  <a:srgbClr val="FFFFFF"/>
                </a:highlight>
              </a:rPr>
              <a:t>extending</a:t>
            </a:r>
            <a:r>
              <a:rPr lang="en">
                <a:solidFill>
                  <a:srgbClr val="0C0D0E"/>
                </a:solidFill>
                <a:highlight>
                  <a:srgbClr val="FFFFFF"/>
                </a:highlight>
              </a:rPr>
              <a:t> a class</a:t>
            </a:r>
            <a:endParaRPr>
              <a:solidFill>
                <a:srgbClr val="0C0D0E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C0D0E"/>
                </a:solidFill>
                <a:highlight>
                  <a:srgbClr val="E3E6E8"/>
                </a:highlight>
              </a:rPr>
              <a:t>implements</a:t>
            </a:r>
            <a:r>
              <a:rPr lang="en">
                <a:solidFill>
                  <a:srgbClr val="0C0D0E"/>
                </a:solidFill>
                <a:highlight>
                  <a:srgbClr val="FFFFFF"/>
                </a:highlight>
              </a:rPr>
              <a:t> is for </a:t>
            </a:r>
            <a:r>
              <a:rPr i="1" lang="en">
                <a:solidFill>
                  <a:srgbClr val="0C0D0E"/>
                </a:solidFill>
                <a:highlight>
                  <a:srgbClr val="FFFFFF"/>
                </a:highlight>
              </a:rPr>
              <a:t>implementing</a:t>
            </a:r>
            <a:r>
              <a:rPr lang="en">
                <a:solidFill>
                  <a:srgbClr val="0C0D0E"/>
                </a:solidFill>
                <a:highlight>
                  <a:srgbClr val="FFFFFF"/>
                </a:highlight>
              </a:rPr>
              <a:t> an interface</a:t>
            </a:r>
            <a:endParaRPr>
              <a:solidFill>
                <a:srgbClr val="0C0D0E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C0D0E"/>
                </a:solidFill>
                <a:highlight>
                  <a:srgbClr val="FFFFFF"/>
                </a:highlight>
              </a:rPr>
              <a:t>The difference between an interface and a regular class is that in an interface you can not implement any of the declared methods. Only the class that "implements" the interface can implement the methods. The C++ equivalent of an interface would be an abstract class (not EXACTLY the same but pretty much)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