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F5D077-EA2F-4F37-A193-423C844E55F5}">
  <a:tblStyle styleId="{4FF5D077-EA2F-4F37-A193-423C844E55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f2e5bf0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f2e5bf0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2e5bf0f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f2e5bf0f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f2e5bf0fe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f2e5bf0fe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e146228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ee146228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ee146228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ee146228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e146228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e146228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ee146228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ee146228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ee146228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ee146228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ee146228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ee146228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ee146228c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ee146228c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ee146228c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ee146228c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e146228c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ee146228c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f2e5bf0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f2e5bf0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f2e5bf0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f2e5bf0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40a321e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f40a321e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0ccd8de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0ccd8de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2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744575"/>
            <a:ext cx="8520600" cy="17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19: Database design for Scalable system</a:t>
            </a:r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4633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 Mohammad Imran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Which is the most </a:t>
            </a:r>
            <a:r>
              <a:rPr lang="en"/>
              <a:t>frequent</a:t>
            </a:r>
            <a:r>
              <a:rPr lang="en"/>
              <a:t> DB operation?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Write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Delete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7748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Which one is the most time consuming?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550150"/>
            <a:ext cx="8520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To make the system faster, then what should you priority?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make the system faster, what you do?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Read operations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do Indexing, as much as possible (</a:t>
            </a:r>
            <a:r>
              <a:rPr lang="en">
                <a:solidFill>
                  <a:schemeClr val="dk1"/>
                </a:solidFill>
              </a:rPr>
              <a:t>efficient</a:t>
            </a:r>
            <a:r>
              <a:rPr lang="en">
                <a:solidFill>
                  <a:schemeClr val="dk1"/>
                </a:solidFill>
              </a:rPr>
              <a:t> indexing that is)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Avoid SELECT *, unnecessary joins, or subqueries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Use caching layers: </a:t>
            </a:r>
            <a:r>
              <a:rPr b="1" lang="en">
                <a:solidFill>
                  <a:schemeClr val="dk1"/>
                </a:solidFill>
              </a:rPr>
              <a:t>In-memory caches (e.g., Redis, Memcached)</a:t>
            </a:r>
            <a:r>
              <a:rPr lang="en">
                <a:solidFill>
                  <a:schemeClr val="dk1"/>
                </a:solidFill>
              </a:rPr>
              <a:t> store frequently accessed data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case of Write: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batch operations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asynchronous writing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Partition or shard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reduce indexing!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0000"/>
                </a:solidFill>
              </a:rPr>
              <a:t>(CONFLICT WITH HOW TO MAKE READ FAST)</a:t>
            </a:r>
            <a:endParaRPr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think about having Read operations in one DB and Write in another DB?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summary of Layered System Architecture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{4FF5D077-EA2F-4F37-A193-423C844E55F5}</a:tableStyleId>
              </a:tblPr>
              <a:tblGrid>
                <a:gridCol w="2213650"/>
                <a:gridCol w="3340850"/>
                <a:gridCol w="3277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Responsibility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Components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Handles user interaction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app (iOS, Android), web app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Gateway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Routes user requests to correct services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NGINX, API Gateway, CloudFront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 / Service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business logic (e.g., matching drivers)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Microservices (Driver, Rider, Trip, Payment)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Storage, caching, search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PostgreSQL, Redis, Elasticsearch, MySQL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Infrastructure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Deployment, scaling, health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Kubernetes, AWS EC2, Docker, Terraform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Cohesion in Database Design?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20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Cohesion</a:t>
            </a:r>
            <a:r>
              <a:rPr lang="en">
                <a:solidFill>
                  <a:schemeClr val="dk1"/>
                </a:solidFill>
              </a:rPr>
              <a:t> refers to how closely the elements within a module or table are related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low-cohesion database</a:t>
            </a:r>
            <a:r>
              <a:rPr lang="en">
                <a:solidFill>
                  <a:schemeClr val="dk1"/>
                </a:solidFill>
              </a:rPr>
              <a:t> splits a logical entity into multiple smaller, independent tables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</a:rPr>
              <a:t>This design sacrifices entity encapsulation for modularity, flexibility, or distribution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High cohesion</a:t>
            </a:r>
            <a:r>
              <a:rPr lang="en">
                <a:solidFill>
                  <a:schemeClr val="dk1"/>
                </a:solidFill>
              </a:rPr>
              <a:t> = one table fully represents a concept.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Low cohesion</a:t>
            </a:r>
            <a:r>
              <a:rPr lang="en">
                <a:solidFill>
                  <a:schemeClr val="dk1"/>
                </a:solidFill>
              </a:rPr>
              <a:t> = one concept is spread across multiple tables.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1343300" y="3207475"/>
            <a:ext cx="668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One of the main reason for any API call to have high latency is that </a:t>
            </a: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Dependency on another table </a:t>
            </a:r>
            <a:endParaRPr sz="18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Having JOIN options</a:t>
            </a:r>
            <a:endParaRPr sz="1800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5045550" y="3882850"/>
            <a:ext cx="39162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Avoid them, you system would be faster</a:t>
            </a: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 Design Steps: 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291725" y="1992437"/>
            <a:ext cx="3403500" cy="16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Step 1: Identify Core Entities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Start with high-level domain objects such as: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</a:rPr>
              <a:t>User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</a:rPr>
              <a:t>Order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</a:rPr>
              <a:t>Product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</a:rPr>
              <a:t>Repository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291725" y="3701362"/>
            <a:ext cx="3403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Define Independent Responsibilities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apart tightly bound data.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details belong in </a:t>
            </a:r>
            <a:r>
              <a:rPr lang="en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facts belong in </a:t>
            </a:r>
            <a:r>
              <a:rPr lang="en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 go to </a:t>
            </a:r>
            <a:r>
              <a:rPr lang="en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order_repo</a:t>
            </a:r>
            <a:endParaRPr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4572000" y="1152475"/>
            <a:ext cx="3000000" cy="18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Establish Link Tables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repository linking table that binds entities WITHOUT using foreign keys. </a:t>
            </a:r>
            <a:endParaRPr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in a way you don’t need to use JOIN operations (as less as possible)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519300" y="3240900"/>
            <a:ext cx="2771400" cy="129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When in doubt create more tables! </a:t>
            </a:r>
            <a:endParaRPr sz="1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And not FOREIGN keys nor JOIN operations</a:t>
            </a:r>
            <a:endParaRPr sz="1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291725" y="1060625"/>
            <a:ext cx="4227600" cy="8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you are developing a e-commerce platform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541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Principles for Low-Cohesion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2884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Principle 1: Split Responsibilities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311700" y="1614175"/>
            <a:ext cx="2884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CREATE TABLE user (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user_id INT PRIMARY KEY,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username VARCHAR(50)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….. Other relevant information);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TABLE product (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product_id INT PRIMARY KEY,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product name VARCHAR(50)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….. Other relevant information);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6028625" y="1152475"/>
            <a:ext cx="3080400" cy="2124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Principle 2: Use Mapping Tables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Mapping tables hold relationships but </a:t>
            </a:r>
            <a:r>
              <a:rPr b="1" lang="en" sz="1400">
                <a:solidFill>
                  <a:schemeClr val="dk1"/>
                </a:solidFill>
              </a:rPr>
              <a:t>no business logic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188038"/>
                </a:solidFill>
              </a:rPr>
              <a:t>order_repo</a:t>
            </a:r>
            <a:r>
              <a:rPr lang="en" sz="1400">
                <a:solidFill>
                  <a:schemeClr val="dk1"/>
                </a:solidFill>
              </a:rPr>
              <a:t> maps </a:t>
            </a:r>
            <a:r>
              <a:rPr lang="en" sz="1400">
                <a:solidFill>
                  <a:srgbClr val="188038"/>
                </a:solidFill>
              </a:rPr>
              <a:t>user_id</a:t>
            </a:r>
            <a:r>
              <a:rPr lang="en" sz="1400">
                <a:solidFill>
                  <a:schemeClr val="dk1"/>
                </a:solidFill>
              </a:rPr>
              <a:t> to </a:t>
            </a:r>
            <a:r>
              <a:rPr lang="en" sz="1400">
                <a:solidFill>
                  <a:srgbClr val="188038"/>
                </a:solidFill>
              </a:rPr>
              <a:t>order_id</a:t>
            </a:r>
            <a:endParaRPr sz="1400">
              <a:solidFill>
                <a:srgbClr val="188038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</a:rPr>
              <a:t>Acts as a link table (sometimes called a </a:t>
            </a:r>
            <a:r>
              <a:rPr i="1" lang="en" sz="1400">
                <a:solidFill>
                  <a:schemeClr val="dk1"/>
                </a:solidFill>
              </a:rPr>
              <a:t>bridge table</a:t>
            </a:r>
            <a:r>
              <a:rPr lang="en" sz="1400">
                <a:solidFill>
                  <a:schemeClr val="dk1"/>
                </a:solidFill>
              </a:rPr>
              <a:t>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</a:rPr>
              <a:t>Enables many-to-many or ownership patterns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240875" y="1152475"/>
            <a:ext cx="2752800" cy="398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-- order table: only stores order data</a:t>
            </a:r>
            <a:endParaRPr sz="13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CREATE TABLE order_data (</a:t>
            </a:r>
            <a:endParaRPr sz="13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    order_id INT PRIMARY KEY,</a:t>
            </a:r>
            <a:endParaRPr sz="13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    amount DECIMAL(10, 2)</a:t>
            </a:r>
            <a:endParaRPr sz="13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    ….. Other relevant information);</a:t>
            </a:r>
            <a:endParaRPr sz="13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-- storing products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CREATE TABLE order_product (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    order_id INT PRIMARY KEY,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roduct_id </a:t>
            </a: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VARCHAR(32) PRIMARY KEY,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    count INT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-- mapping table: who has what</a:t>
            </a:r>
            <a:endParaRPr sz="1300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CREATE TABLE order_repo (</a:t>
            </a:r>
            <a:endParaRPr sz="1300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    order_id INT PRIMARY KEY,</a:t>
            </a:r>
            <a:endParaRPr sz="1300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    user_id INT PRIMARY KEY</a:t>
            </a:r>
            <a:endParaRPr sz="1300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300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6028625" y="3372700"/>
            <a:ext cx="3080400" cy="147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Principle 3: Avoid Overloading Tables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Don’t mix unrelated fields into the same table even if they seem convenient.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Keep </a:t>
            </a:r>
            <a:r>
              <a:rPr lang="en" sz="1400">
                <a:solidFill>
                  <a:srgbClr val="188038"/>
                </a:solidFill>
              </a:rPr>
              <a:t>user_email</a:t>
            </a:r>
            <a:r>
              <a:rPr lang="en" sz="1400">
                <a:solidFill>
                  <a:schemeClr val="dk1"/>
                </a:solidFill>
              </a:rPr>
              <a:t> in </a:t>
            </a:r>
            <a:r>
              <a:rPr lang="en" sz="1400">
                <a:solidFill>
                  <a:srgbClr val="188038"/>
                </a:solidFill>
              </a:rPr>
              <a:t>user</a:t>
            </a:r>
            <a:endParaRPr sz="1400">
              <a:solidFill>
                <a:srgbClr val="188038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Keep </a:t>
            </a:r>
            <a:r>
              <a:rPr lang="en" sz="1400">
                <a:solidFill>
                  <a:srgbClr val="188038"/>
                </a:solidFill>
              </a:rPr>
              <a:t>order_date</a:t>
            </a:r>
            <a:r>
              <a:rPr lang="en" sz="1400">
                <a:solidFill>
                  <a:schemeClr val="dk1"/>
                </a:solidFill>
              </a:rPr>
              <a:t> in </a:t>
            </a:r>
            <a:r>
              <a:rPr lang="en" sz="1400">
                <a:solidFill>
                  <a:srgbClr val="188038"/>
                </a:solidFill>
              </a:rPr>
              <a:t>order_data</a:t>
            </a:r>
            <a:endParaRPr sz="1400">
              <a:solidFill>
                <a:srgbClr val="188038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Keep </a:t>
            </a:r>
            <a:r>
              <a:rPr lang="en" sz="1400">
                <a:solidFill>
                  <a:srgbClr val="188038"/>
                </a:solidFill>
              </a:rPr>
              <a:t>ownership</a:t>
            </a:r>
            <a:r>
              <a:rPr lang="en" sz="1400">
                <a:solidFill>
                  <a:schemeClr val="dk1"/>
                </a:solidFill>
              </a:rPr>
              <a:t> in </a:t>
            </a:r>
            <a:r>
              <a:rPr lang="en" sz="1400">
                <a:solidFill>
                  <a:srgbClr val="188038"/>
                </a:solidFill>
              </a:rPr>
              <a:t>order_repo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Low-Cohesion Database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3025"/>
            <a:ext cx="8839200" cy="347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Low-Cohesion Database</a:t>
            </a:r>
            <a:endParaRPr/>
          </a:p>
        </p:txBody>
      </p:sp>
      <p:graphicFrame>
        <p:nvGraphicFramePr>
          <p:cNvPr id="125" name="Google Shape;125;p23"/>
          <p:cNvGraphicFramePr/>
          <p:nvPr/>
        </p:nvGraphicFramePr>
        <p:xfrm>
          <a:off x="56374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{4FF5D077-EA2F-4F37-A193-423C844E55F5}</a:tableStyleId>
              </a:tblPr>
              <a:tblGrid>
                <a:gridCol w="22136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Gateway / Edge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 / Service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Infrastructure Layer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23"/>
          <p:cNvSpPr txBox="1"/>
          <p:nvPr/>
        </p:nvSpPr>
        <p:spPr>
          <a:xfrm>
            <a:off x="5513025" y="1388250"/>
            <a:ext cx="2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which layer you do it?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411500"/>
            <a:ext cx="40341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">
                <a:solidFill>
                  <a:schemeClr val="dk1"/>
                </a:solidFill>
              </a:rPr>
              <a:t>The order exists (</a:t>
            </a:r>
            <a:r>
              <a:rPr lang="en">
                <a:solidFill>
                  <a:srgbClr val="008000"/>
                </a:solidFill>
              </a:rPr>
              <a:t>order</a:t>
            </a:r>
            <a:r>
              <a:rPr lang="en">
                <a:solidFill>
                  <a:schemeClr val="dk1"/>
                </a:solidFill>
              </a:rPr>
              <a:t> table).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">
                <a:solidFill>
                  <a:schemeClr val="dk1"/>
                </a:solidFill>
              </a:rPr>
              <a:t>The user exists (</a:t>
            </a:r>
            <a:r>
              <a:rPr lang="en">
                <a:solidFill>
                  <a:srgbClr val="008000"/>
                </a:solidFill>
              </a:rPr>
              <a:t>user</a:t>
            </a:r>
            <a:r>
              <a:rPr lang="en">
                <a:solidFill>
                  <a:schemeClr val="dk1"/>
                </a:solidFill>
              </a:rPr>
              <a:t> table).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The order belongs to that user (validated via </a:t>
            </a:r>
            <a:r>
              <a:rPr lang="en">
                <a:solidFill>
                  <a:srgbClr val="008000"/>
                </a:solidFill>
              </a:rPr>
              <a:t>order_repo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The order has products (</a:t>
            </a:r>
            <a:r>
              <a:rPr lang="en">
                <a:solidFill>
                  <a:srgbClr val="008000"/>
                </a:solidFill>
              </a:rPr>
              <a:t>order_product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Each product’s details exist in the </a:t>
            </a:r>
            <a:r>
              <a:rPr lang="en">
                <a:solidFill>
                  <a:srgbClr val="008000"/>
                </a:solidFill>
              </a:rPr>
              <a:t>product</a:t>
            </a:r>
            <a:r>
              <a:rPr lang="en">
                <a:solidFill>
                  <a:schemeClr val="dk1"/>
                </a:solidFill>
              </a:rPr>
              <a:t> table.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/>
        </p:nvSpPr>
        <p:spPr>
          <a:xfrm>
            <a:off x="4345825" y="1411500"/>
            <a:ext cx="42603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@app.get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"/orders/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{order_id}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get_order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order_id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Step 1: Validate existence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validate_order(order_id)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validate_user(user_id)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validate_relationship(order_id, user_id)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Step 2: Fetch related data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items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get_order_items(order_id)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Step 3: Assemble full response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assemble_response(order_id, items)</a:t>
            </a:r>
            <a:endParaRPr sz="90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Low-Cohesion Database on Service Layer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411500"/>
            <a:ext cx="40341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">
                <a:solidFill>
                  <a:schemeClr val="dk1"/>
                </a:solidFill>
              </a:rPr>
              <a:t>The order exists (</a:t>
            </a:r>
            <a:r>
              <a:rPr lang="en">
                <a:solidFill>
                  <a:srgbClr val="008000"/>
                </a:solidFill>
              </a:rPr>
              <a:t>order</a:t>
            </a:r>
            <a:r>
              <a:rPr lang="en">
                <a:solidFill>
                  <a:schemeClr val="dk1"/>
                </a:solidFill>
              </a:rPr>
              <a:t> table).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">
                <a:solidFill>
                  <a:schemeClr val="dk1"/>
                </a:solidFill>
              </a:rPr>
              <a:t>The user exists (</a:t>
            </a:r>
            <a:r>
              <a:rPr lang="en">
                <a:solidFill>
                  <a:srgbClr val="008000"/>
                </a:solidFill>
              </a:rPr>
              <a:t>user</a:t>
            </a:r>
            <a:r>
              <a:rPr lang="en">
                <a:solidFill>
                  <a:schemeClr val="dk1"/>
                </a:solidFill>
              </a:rPr>
              <a:t> table).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The order belongs to that user (validated via </a:t>
            </a:r>
            <a:r>
              <a:rPr lang="en">
                <a:solidFill>
                  <a:srgbClr val="008000"/>
                </a:solidFill>
              </a:rPr>
              <a:t>order_repo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The order has products (</a:t>
            </a:r>
            <a:r>
              <a:rPr lang="en">
                <a:solidFill>
                  <a:srgbClr val="008000"/>
                </a:solidFill>
              </a:rPr>
              <a:t>order_product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Each product’s details exist in the </a:t>
            </a:r>
            <a:r>
              <a:rPr lang="en">
                <a:solidFill>
                  <a:srgbClr val="008000"/>
                </a:solidFill>
              </a:rPr>
              <a:t>product</a:t>
            </a:r>
            <a:r>
              <a:rPr lang="en">
                <a:solidFill>
                  <a:schemeClr val="dk1"/>
                </a:solidFill>
              </a:rPr>
              <a:t> table.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/>
        </p:nvSpPr>
        <p:spPr>
          <a:xfrm>
            <a:off x="311750" y="0"/>
            <a:ext cx="3074100" cy="49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"order_id"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105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"order_date"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"2025-10-30 11:20:00"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"status"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"Delivered"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"total"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799.99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"user_id"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"items"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"product_id"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"Bluetooth Headphones"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"price"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299.99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"quantity"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"subtotal"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299.99</a:t>
            </a:r>
            <a:endParaRPr sz="10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"product_id"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"Smartwatch"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"price"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500.00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"quantity"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"subtotal"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500.00</a:t>
            </a:r>
            <a:endParaRPr sz="10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Benefits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20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Data modularity:</a:t>
            </a:r>
            <a:r>
              <a:rPr lang="en">
                <a:solidFill>
                  <a:schemeClr val="dk1"/>
                </a:solidFill>
              </a:rPr>
              <a:t> Every table can live in a separate service or database.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Monolithic architecture/microservice either way, it works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Integrity by logic:</a:t>
            </a:r>
            <a:r>
              <a:rPr lang="en">
                <a:solidFill>
                  <a:schemeClr val="dk1"/>
                </a:solidFill>
              </a:rPr>
              <a:t> All checks are performed at the service layer.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u="sng">
                <a:solidFill>
                  <a:schemeClr val="dk1"/>
                </a:solidFill>
              </a:rPr>
              <a:t>Business logic has more control</a:t>
            </a:r>
            <a:r>
              <a:rPr lang="en" sz="1800">
                <a:solidFill>
                  <a:schemeClr val="dk1"/>
                </a:solidFill>
              </a:rPr>
              <a:t>, easy to change than lets say database tables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Auditability:</a:t>
            </a:r>
            <a:r>
              <a:rPr lang="en">
                <a:solidFill>
                  <a:schemeClr val="dk1"/>
                </a:solidFill>
              </a:rPr>
              <a:t> Each lookup is explicit and logged.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Scalability:</a:t>
            </a:r>
            <a:r>
              <a:rPr lang="en">
                <a:solidFill>
                  <a:schemeClr val="dk1"/>
                </a:solidFill>
              </a:rPr>
              <a:t> No join overhead, works well in sharded environments.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having too much low cohesive not good?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Consider any App you use, w</a:t>
            </a:r>
            <a:r>
              <a:rPr lang="en">
                <a:solidFill>
                  <a:schemeClr val="dk1"/>
                </a:solidFill>
              </a:rPr>
              <a:t>hich are some features you have seen to take long time to load?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454425" y="21164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Trade-offs</a:t>
            </a: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454425" y="2578175"/>
            <a:ext cx="577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plit too far -&gt; Transaction failures or inconsistent state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ata fragmented -&gt; Slow aggregation queries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Excessive mapping tables -&gt; High query overhead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having too much low cohesive not good?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Payment 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High transactions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idea then to make Software secure as well as fast enough where you need both kind of features (e.g., payment/analytics as well as notifications, authentication, etc)?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Low Cohesion vs High Cohesion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26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chemeClr val="dk1"/>
                </a:solidFill>
              </a:rPr>
              <a:t>Use High Cohesion When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Building normal application databases (Online </a:t>
            </a:r>
            <a:r>
              <a:rPr lang="en" sz="1800">
                <a:solidFill>
                  <a:schemeClr val="dk1"/>
                </a:solidFill>
              </a:rPr>
              <a:t>Transaction</a:t>
            </a:r>
            <a:r>
              <a:rPr lang="en" sz="1800">
                <a:solidFill>
                  <a:schemeClr val="dk1"/>
                </a:solidFill>
              </a:rPr>
              <a:t> Processing - OLTP)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You need clean structure and easy maintenance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You want clear responsibilities and fewer bugs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chemeClr val="dk1"/>
                </a:solidFill>
              </a:rPr>
              <a:t>Use Low Cohesion When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Building analytics/reporting systems (Online Analytical Processing - OLAP)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Using denormalized or “wide” tables for speed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Storing logs, events, or cache tables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