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eff84c2d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eff84c2d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1f36e0e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1f36e0e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eff84c2d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eff84c2d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eff84c2d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eff84c2d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eff84c2d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2eff84c2d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eff84c2d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eff84c2d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eff84c2d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2eff84c2d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eff84c2d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eff84c2d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eff84c2d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eff84c2d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eff84c2d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eff84c2d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eff84c2d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eff84c2d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eff84c2d4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eff84c2d4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eff84c2d4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eff84c2d4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eff84c2d4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eff84c2d4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eff84c2d4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2eff84c2d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eff84c2d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2eff84c2d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eff84c2d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2eff84c2d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eff84c2d4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2eff84c2d4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eff84c2d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2eff84c2d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eff84c2d4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2eff84c2d4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eff84c2d4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2eff84c2d4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eff84c2d4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2eff84c2d4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eff84c2d4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2eff84c2d4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eff84c2d4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2eff84c2d4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eff84c2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2eff84c2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f2ce591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f2ce591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f2ce5916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2f2ce5916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f2ce5916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2f2ce5916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2f2ce5916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2f2ce5916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f2ce5916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2f2ce5916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2f2ce5916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2f2ce5916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2cb6e8adf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2cb6e8adf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2f2ce5916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2f2ce5916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027b1c2b6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027b1c2b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027b1c2b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8027b1c2b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027b1c2b6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027b1c2b6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8027b1c2b6_2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8027b1c2b6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027b1c2b6_2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8027b1c2b6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8027b1c2b6_2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8027b1c2b6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38ab1ba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838ab1ba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2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2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ojko.net/2009/12/07/improving-testing-practices-at-google/" TargetMode="External"/><Relationship Id="rId4" Type="http://schemas.openxmlformats.org/officeDocument/2006/relationships/hyperlink" Target="https://gojko.net/2009/12/07/improving-testing-practices-at-google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www.youtube.com/watch?v=lAkuJXGldrM" TargetMode="External"/><Relationship Id="rId4" Type="http://schemas.openxmlformats.org/officeDocument/2006/relationships/image" Target="../media/image1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agilemanifesto.org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agilemanifesto.org/principles.html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atlassian.com/agile/agile-at-scale/spotify" TargetMode="External"/><Relationship Id="rId4" Type="http://schemas.openxmlformats.org/officeDocument/2006/relationships/hyperlink" Target="https://productschool.com/blog/product-fundamentals/spotify-model-scaling-agil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www.extremeprogramming.org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8" y="744575"/>
            <a:ext cx="8520600" cy="17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Lecture 9: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SDLC Models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2834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Mia Mohammad Imran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Objectives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18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Going back to SDLC: </a:t>
            </a:r>
            <a:r>
              <a:rPr lang="en">
                <a:solidFill>
                  <a:schemeClr val="dk1"/>
                </a:solidFill>
              </a:rPr>
              <a:t>major SDLC models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Understand when to use each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Identify strengths and weaknesses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Learn to choose the right model for your project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Teams and Roles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3260400" cy="32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Customer/Stakeholders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Project Manager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Software Architect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Software Designer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Developer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Tester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etc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73" name="Google Shape;73;p16" title="image.D6DGD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1094" y="571482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title="image.MYJGD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0544" y="57148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image.H6BID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8919" y="228273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mage.YR9FD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8944" y="374608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image.5CPDD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40494" y="3050407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image.7FTCD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27069" y="2746207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7008950" y="1882525"/>
            <a:ext cx="214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Customer/Stakeholders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150582" y="1577732"/>
            <a:ext cx="173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Software Architect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354869" y="3405232"/>
            <a:ext cx="152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Project Manager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572094" y="4136682"/>
            <a:ext cx="16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Software Designer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8054925" y="3746075"/>
            <a:ext cx="130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Programmer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6713325" y="4743300"/>
            <a:ext cx="152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Software Tester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5721775" y="939850"/>
            <a:ext cx="152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Collaboration!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8313" y="0"/>
            <a:ext cx="388287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Model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Model (1968)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4260300" cy="25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It’s like a disciplined martial artist! </a:t>
            </a:r>
            <a:r>
              <a:rPr lang="en">
                <a:solidFill>
                  <a:schemeClr val="dk1"/>
                </a:solidFill>
              </a:rPr>
              <a:t>Waterfall follows: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Strict discipline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Sequential moves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Perfect form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shortcuts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425" y="1088625"/>
            <a:ext cx="4395574" cy="329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Model: Key Characteristics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8520600" cy="17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Linear progression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documentation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Structured phases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Formal sign-offs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Model: When to Use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520600" cy="17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Clear, unchanging requirements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Well-understood technology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Short projects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Regulatory compliance needs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Model: Real World Example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21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NASA Space Shuttle Software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Zero-defect requirement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Life-critical systems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Extensive documentation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Rigorous testing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05200"/>
            <a:ext cx="8520600" cy="4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You're leading a School Management System using the Waterfall model.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Initial Setup: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8-month project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$200K budget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Requirements gathered from principal (teachers on summer break)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Modern UI design approved without teacher input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 months into development: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Government announces new compliance requirements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School wants additional features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Teachers return and hate the UI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State database integration needed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What would You Do?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18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>
                <a:solidFill>
                  <a:schemeClr val="dk1"/>
                </a:solidFill>
              </a:rPr>
              <a:t>Continue with original plan and documentation?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>
                <a:solidFill>
                  <a:schemeClr val="dk1"/>
                </a:solidFill>
              </a:rPr>
              <a:t>Return to requirements phase and restart?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>
                <a:solidFill>
                  <a:schemeClr val="dk1"/>
                </a:solidFill>
              </a:rPr>
              <a:t>Try to modify current phase while maintaining Waterfall structure?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AutoNum type="arabicParenR"/>
            </a:pPr>
            <a:r>
              <a:rPr lang="en">
                <a:solidFill>
                  <a:schemeClr val="dk1"/>
                </a:solidFill>
              </a:rPr>
              <a:t>Propose a hybrid solution within Waterfall framework?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Trade-offs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Option 1: Continue Original Plan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Maintains timeline and documentation integrity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Preserves budget allocation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❌ Results in unusable system for teachers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❌ Fails compliance requirements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Impact: Project failed successfully!</a:t>
            </a:r>
            <a:endParaRPr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Trade-offs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Option 2: Return to Requirements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Addresses all stakeholder needs properly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Ensures compliance and integration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❌ Doubles project timeline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❌ Exceeds budget by 80%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Impact: Better product, but missed market window</a:t>
            </a:r>
            <a:endParaRPr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Trade-offs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Option 3: Modify Current Phase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Partially addresses new requirements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Minimal timeline impact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❌ Breaks Waterfall's sequential nature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❌ Creates documentation inconsistencies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Impact: Compromised quality and structure</a:t>
            </a:r>
            <a:endParaRPr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Trade-offs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Option 4: Hybrid Solution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Maintains some Waterfall structure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Allows for critical changes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❌ Increases project complexity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❌ Creates management challenges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Impact: Balance of adaptation and control</a:t>
            </a:r>
            <a:endParaRPr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Trade-offs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Key Lessons: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Early stakeholder involvement is crucial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Build flexibility into documentation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Plan for change in timeline/budget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Consider phased deployment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Document assumptions explicitly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Remember: In real projects, early prevention of these issues is the best solution!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That means Waterfall is destined to fail!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Boehm’s First Law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24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"Errors are most frequent during requirements and design activities and are the more expensive the later they are removed."</a:t>
            </a:r>
            <a:endParaRPr b="1" i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Earlier phases have more errors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Cost of fixing increases over time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Prevention is better than cure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Early detection saves resources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Boehm’s First Law</a:t>
            </a:r>
            <a:endParaRPr/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225" y="1060625"/>
            <a:ext cx="4201345" cy="37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Boehm’s First Law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1152475"/>
            <a:ext cx="85206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“They estimated that a bug found during TDD costs $5 to fix, which surges to $50 for tests during a full build and $500 during an integration test. It goes to $5000 during a system test. Fixing bugs earlier would save them an estimated $160M per year.”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Mark Striebeck, Google, 2009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r>
              <a:rPr lang="en" u="sng">
                <a:solidFill>
                  <a:schemeClr val="hlink"/>
                </a:solidFill>
                <a:hlinkClick r:id="rId3"/>
              </a:rPr>
              <a:t>h</a:t>
            </a:r>
            <a:r>
              <a:rPr lang="en" u="sng">
                <a:solidFill>
                  <a:schemeClr val="hlink"/>
                </a:solidFill>
                <a:hlinkClick r:id="rId4"/>
              </a:rPr>
              <a:t>ttps://gojko.net/2009/12/07/improving-testing-practices-at-google/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Boehm's Law Affects Waterfall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1152475"/>
            <a:ext cx="8520600" cy="17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Front-loaded requirements gathering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Extensive early documentation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High cost of late changes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Sequential progression magnifies issues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Other Major Pitfall of Waterfall?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152475"/>
            <a:ext cx="85206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Long delivery times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Customer must have patience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Customer sees product only at end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225" y="2434525"/>
            <a:ext cx="4121561" cy="25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Development Models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152475"/>
            <a:ext cx="8520600" cy="21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Think of building a LEGO castle: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Start with a basic structure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 features piece by piece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Improve based on feedback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Keep building until complete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300" y="1185538"/>
            <a:ext cx="5143500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vs Iterative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311700" y="1152475"/>
            <a:ext cx="8520600" cy="3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Waterfall: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Building a house in one go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moving in until complete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Changes are expensive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Iterative: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Building a house room by room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live while building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Changes between rooms possible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Models: </a:t>
            </a:r>
            <a:r>
              <a:rPr lang="en"/>
              <a:t>Key Features</a:t>
            </a:r>
            <a:endParaRPr/>
          </a:p>
        </p:txBody>
      </p:sp>
      <p:sp>
        <p:nvSpPr>
          <p:cNvPr id="207" name="Google Shape;207;p36"/>
          <p:cNvSpPr txBox="1"/>
          <p:nvPr>
            <p:ph idx="1" type="body"/>
          </p:nvPr>
        </p:nvSpPr>
        <p:spPr>
          <a:xfrm>
            <a:off x="311700" y="1152475"/>
            <a:ext cx="85206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Requirements → Design → Code → Test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Multiple Cycles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cycle adds features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Learn from previous cycles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Growing Product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Starts with core features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Adds functionality gradually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Regular Feedback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 input between cycles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Reduces risk/Better user satisfaction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Models: </a:t>
            </a:r>
            <a:r>
              <a:rPr lang="en"/>
              <a:t>Challenges to Consider</a:t>
            </a:r>
            <a:endParaRPr/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311700" y="1152475"/>
            <a:ext cx="85206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Management Overhead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More meetings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Regular planning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Documentation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Multiple updates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Change tracking/</a:t>
            </a:r>
            <a:r>
              <a:rPr lang="en">
                <a:solidFill>
                  <a:schemeClr val="dk1"/>
                </a:solidFill>
              </a:rPr>
              <a:t>Version control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Resource Management: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Team availability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Frequent testing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Budget control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Models: </a:t>
            </a:r>
            <a:r>
              <a:rPr lang="en"/>
              <a:t>When to Use</a:t>
            </a:r>
            <a:endParaRPr/>
          </a:p>
        </p:txBody>
      </p:sp>
      <p:sp>
        <p:nvSpPr>
          <p:cNvPr id="219" name="Google Shape;219;p38"/>
          <p:cNvSpPr txBox="1"/>
          <p:nvPr>
            <p:ph idx="1" type="body"/>
          </p:nvPr>
        </p:nvSpPr>
        <p:spPr>
          <a:xfrm>
            <a:off x="311700" y="1152475"/>
            <a:ext cx="85206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Good for: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Unclear requirements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New technology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Complex systems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Regular feedback needed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Maybe not: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Simple, clear projects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Fixed requirements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Critical systems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Limited user access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Example</a:t>
            </a:r>
            <a:endParaRPr/>
          </a:p>
        </p:txBody>
      </p:sp>
      <p:sp>
        <p:nvSpPr>
          <p:cNvPr id="225" name="Google Shape;225;p39"/>
          <p:cNvSpPr txBox="1"/>
          <p:nvPr>
            <p:ph idx="1" type="body"/>
          </p:nvPr>
        </p:nvSpPr>
        <p:spPr>
          <a:xfrm>
            <a:off x="311700" y="1152475"/>
            <a:ext cx="8520600" cy="25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Microsoft Windows Operating System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Started with basic OS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Added features gradually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Regular updates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 feedback incorporation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Continuous improvement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Bill Gates tanzt &quot;off beat&quot;" id="226" name="Google Shape;226;p39" title="Windows 95 Launch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5450" y="17145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Street-Smart Approach: Agile Model</a:t>
            </a:r>
            <a:endParaRPr/>
          </a:p>
        </p:txBody>
      </p:sp>
      <p:sp>
        <p:nvSpPr>
          <p:cNvPr id="232" name="Google Shape;232;p40"/>
          <p:cNvSpPr txBox="1"/>
          <p:nvPr>
            <p:ph idx="1" type="body"/>
          </p:nvPr>
        </p:nvSpPr>
        <p:spPr>
          <a:xfrm>
            <a:off x="311700" y="1152475"/>
            <a:ext cx="8520600" cy="29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Snowbird, Utah - February 2001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 software developers met to discuss: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Need for better development methods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Focus on delivering value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Importance of adaptation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Result: The Agile Manifesto! 📜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u="sng">
                <a:solidFill>
                  <a:schemeClr val="hlink"/>
                </a:solidFill>
                <a:hlinkClick r:id="rId3"/>
              </a:rPr>
              <a:t>https://agilemanifesto.org/</a:t>
            </a:r>
            <a:endParaRPr i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Agile Manifesto: Core Values</a:t>
            </a:r>
            <a:endParaRPr/>
          </a:p>
        </p:txBody>
      </p:sp>
      <p:sp>
        <p:nvSpPr>
          <p:cNvPr id="238" name="Google Shape;238;p41"/>
          <p:cNvSpPr txBox="1"/>
          <p:nvPr>
            <p:ph idx="1" type="body"/>
          </p:nvPr>
        </p:nvSpPr>
        <p:spPr>
          <a:xfrm>
            <a:off x="311700" y="1152475"/>
            <a:ext cx="8520600" cy="21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Individuals and interactions &gt; processes and tools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Working software &gt; comprehensive documentation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Customer collaboration &gt; contract negotiation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Responding to change &gt; following a plan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“While there is value in the items on the right, we value the items on the left more”</a:t>
            </a:r>
            <a:endParaRPr i="1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Agile Principles</a:t>
            </a:r>
            <a:endParaRPr/>
          </a:p>
        </p:txBody>
      </p:sp>
      <p:sp>
        <p:nvSpPr>
          <p:cNvPr id="244" name="Google Shape;244;p42"/>
          <p:cNvSpPr txBox="1"/>
          <p:nvPr>
            <p:ph idx="1" type="body"/>
          </p:nvPr>
        </p:nvSpPr>
        <p:spPr>
          <a:xfrm>
            <a:off x="311700" y="1152475"/>
            <a:ext cx="4260300" cy="38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https://agilemanifesto.org/principles.html</a:t>
            </a:r>
            <a:endParaRPr b="1" sz="1400">
              <a:solidFill>
                <a:srgbClr val="4A86E8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Customer Satisfaction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Early and continuous delivery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Welcome Change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Even late in development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Competitive advantage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Frequent Delivery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Shorter timescales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Working Software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Primary measure of progress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Demo &gt; Documentation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Sustainable Development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Maintain constant pace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Long-term sustainability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Technical Excellence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Continuous attention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Good design enhances agility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5" name="Google Shape;245;p42"/>
          <p:cNvSpPr txBox="1"/>
          <p:nvPr>
            <p:ph idx="1" type="body"/>
          </p:nvPr>
        </p:nvSpPr>
        <p:spPr>
          <a:xfrm>
            <a:off x="4572000" y="1152475"/>
            <a:ext cx="42603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Business &amp; Developers Together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Daily collaboration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Trust &amp; Support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Build projects around motivated people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Provide environment and support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Face-to-Face Communication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Most efficient and effective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Simplicity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Maximize work not done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Essential = Art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Self-organizing Teams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Best architectures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Best designs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 sz="1400">
                <a:solidFill>
                  <a:schemeClr val="dk1"/>
                </a:solidFill>
              </a:rPr>
              <a:t>Regular Reflection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Team adjusts behavior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</a:rPr>
              <a:t>Increase effectiveness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Agile Concepts</a:t>
            </a:r>
            <a:endParaRPr/>
          </a:p>
        </p:txBody>
      </p:sp>
      <p:sp>
        <p:nvSpPr>
          <p:cNvPr id="251" name="Google Shape;251;p43"/>
          <p:cNvSpPr txBox="1"/>
          <p:nvPr>
            <p:ph idx="1" type="body"/>
          </p:nvPr>
        </p:nvSpPr>
        <p:spPr>
          <a:xfrm>
            <a:off x="311700" y="1152475"/>
            <a:ext cx="8520600" cy="3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Iterative Development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</a:rPr>
              <a:t>Short cycles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</a:rPr>
              <a:t>Regular feedback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</a:rPr>
              <a:t>Continuous improvement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User Stories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</a:rPr>
              <a:t>Customer perspective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</a:rPr>
              <a:t>Business value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</a:rPr>
              <a:t>Acceptance criteria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Daily Stand-ups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</a:rPr>
              <a:t>Quick updates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</a:rPr>
              <a:t>Obstacle removal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</a:rPr>
              <a:t>Team synchronization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4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SDLC Phases</a:t>
            </a:r>
            <a:endParaRPr/>
          </a:p>
        </p:txBody>
      </p:sp>
      <p:sp>
        <p:nvSpPr>
          <p:cNvPr id="257" name="Google Shape;257;p44"/>
          <p:cNvSpPr txBox="1"/>
          <p:nvPr>
            <p:ph idx="1" type="body"/>
          </p:nvPr>
        </p:nvSpPr>
        <p:spPr>
          <a:xfrm>
            <a:off x="311700" y="1152475"/>
            <a:ext cx="8520600" cy="25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Inception</a:t>
            </a:r>
            <a:r>
              <a:rPr lang="en">
                <a:solidFill>
                  <a:schemeClr val="dk1"/>
                </a:solidFill>
              </a:rPr>
              <a:t>: Form teams, establish requirements.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Concept</a:t>
            </a:r>
            <a:r>
              <a:rPr lang="en">
                <a:solidFill>
                  <a:schemeClr val="dk1"/>
                </a:solidFill>
              </a:rPr>
              <a:t>: Identify project vision and feasibility.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Iteration</a:t>
            </a:r>
            <a:r>
              <a:rPr b="1" lang="en">
                <a:solidFill>
                  <a:schemeClr val="dk1"/>
                </a:solidFill>
              </a:rPr>
              <a:t>/Increment</a:t>
            </a:r>
            <a:r>
              <a:rPr lang="en">
                <a:solidFill>
                  <a:schemeClr val="dk1"/>
                </a:solidFill>
              </a:rPr>
              <a:t>: Develop in short sprints.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Release</a:t>
            </a:r>
            <a:r>
              <a:rPr lang="en">
                <a:solidFill>
                  <a:schemeClr val="dk1"/>
                </a:solidFill>
              </a:rPr>
              <a:t>: Deploy working software.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Maintenance</a:t>
            </a:r>
            <a:r>
              <a:rPr lang="en">
                <a:solidFill>
                  <a:schemeClr val="dk1"/>
                </a:solidFill>
              </a:rPr>
              <a:t>: Continuous improvements and fixes.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Retirement</a:t>
            </a:r>
            <a:r>
              <a:rPr lang="en">
                <a:solidFill>
                  <a:schemeClr val="dk1"/>
                </a:solidFill>
              </a:rPr>
              <a:t>: End of product life cycle.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Agile Frameworks</a:t>
            </a:r>
            <a:endParaRPr/>
          </a:p>
        </p:txBody>
      </p:sp>
      <p:sp>
        <p:nvSpPr>
          <p:cNvPr id="263" name="Google Shape;263;p45"/>
          <p:cNvSpPr txBox="1"/>
          <p:nvPr>
            <p:ph idx="1" type="body"/>
          </p:nvPr>
        </p:nvSpPr>
        <p:spPr>
          <a:xfrm>
            <a:off x="311700" y="1152475"/>
            <a:ext cx="4260300" cy="33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Scrum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Sprints, Product Backlog, Scrum Master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Kanban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Visual workflow, WIP limits, Continuous flow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XP (Extreme Programming)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i="1" lang="en" sz="1800">
                <a:solidFill>
                  <a:schemeClr val="dk1"/>
                </a:solidFill>
              </a:rPr>
              <a:t>Pair programming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b="1" i="1" lang="en" sz="1800">
                <a:solidFill>
                  <a:schemeClr val="dk1"/>
                </a:solidFill>
              </a:rPr>
              <a:t>Test-driven development</a:t>
            </a:r>
            <a:r>
              <a:rPr lang="en" sz="1800">
                <a:solidFill>
                  <a:schemeClr val="dk1"/>
                </a:solidFill>
              </a:rPr>
              <a:t>, Continuous integration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64" name="Google Shape;264;p45"/>
          <p:cNvPicPr preferRelativeResize="0"/>
          <p:nvPr/>
        </p:nvPicPr>
        <p:blipFill rotWithShape="1">
          <a:blip r:embed="rId3">
            <a:alphaModFix/>
          </a:blip>
          <a:srcRect b="2391" l="0" r="0" t="0"/>
          <a:stretch/>
        </p:blipFill>
        <p:spPr>
          <a:xfrm>
            <a:off x="4931450" y="1152475"/>
            <a:ext cx="4212549" cy="36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Example</a:t>
            </a:r>
            <a:endParaRPr/>
          </a:p>
        </p:txBody>
      </p:sp>
      <p:sp>
        <p:nvSpPr>
          <p:cNvPr id="270" name="Google Shape;270;p46"/>
          <p:cNvSpPr txBox="1"/>
          <p:nvPr>
            <p:ph idx="1" type="body"/>
          </p:nvPr>
        </p:nvSpPr>
        <p:spPr>
          <a:xfrm>
            <a:off x="311700" y="1152475"/>
            <a:ext cx="8520600" cy="15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PayPal, Spotify, Toyota, JP Morgan, Chase, FitBit and more!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Spotify Agile Model: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https://www.atlassian.com/agile/agile-at-scale/spotify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https://productschool.com/blog/product-fundamentals/spotify-model-scaling-agile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Anti-patterns ⚠️</a:t>
            </a:r>
            <a:endParaRPr/>
          </a:p>
        </p:txBody>
      </p:sp>
      <p:sp>
        <p:nvSpPr>
          <p:cNvPr id="276" name="Google Shape;276;p47"/>
          <p:cNvSpPr txBox="1"/>
          <p:nvPr>
            <p:ph idx="1" type="body"/>
          </p:nvPr>
        </p:nvSpPr>
        <p:spPr>
          <a:xfrm>
            <a:off x="311700" y="1152475"/>
            <a:ext cx="4260300" cy="30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Cargo Cult Agile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Following practices blindly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Missing the principles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Water-Scrum-Fall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Agile in name only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Traditional control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Sprint Marathon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Unsustainable pace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Team burnout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Programming aka XP</a:t>
            </a:r>
            <a:endParaRPr/>
          </a:p>
        </p:txBody>
      </p:sp>
      <p:sp>
        <p:nvSpPr>
          <p:cNvPr id="282" name="Google Shape;282;p48"/>
          <p:cNvSpPr txBox="1"/>
          <p:nvPr>
            <p:ph idx="1" type="body"/>
          </p:nvPr>
        </p:nvSpPr>
        <p:spPr>
          <a:xfrm>
            <a:off x="311700" y="115247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version of Agile: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http://www.extremeprogramming.org/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3" name="Google Shape;283;p48"/>
          <p:cNvSpPr txBox="1"/>
          <p:nvPr>
            <p:ph idx="1" type="body"/>
          </p:nvPr>
        </p:nvSpPr>
        <p:spPr>
          <a:xfrm>
            <a:off x="311700" y="2530200"/>
            <a:ext cx="8520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2400">
                <a:solidFill>
                  <a:schemeClr val="dk1"/>
                </a:solidFill>
              </a:rPr>
              <a:t>“If a practice is good, do it often”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XP’s Core Values</a:t>
            </a:r>
            <a:endParaRPr/>
          </a:p>
        </p:txBody>
      </p:sp>
      <p:sp>
        <p:nvSpPr>
          <p:cNvPr id="289" name="Google Shape;289;p49"/>
          <p:cNvSpPr txBox="1"/>
          <p:nvPr>
            <p:ph idx="1" type="body"/>
          </p:nvPr>
        </p:nvSpPr>
        <p:spPr>
          <a:xfrm>
            <a:off x="311700" y="1152475"/>
            <a:ext cx="8520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Communication (between team and with customers)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Simplicity (in design and code)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Feedback (at many levels)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Courage (to make and implement difficult decision)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XP’s Fundamental Principles</a:t>
            </a:r>
            <a:endParaRPr/>
          </a:p>
        </p:txBody>
      </p:sp>
      <p:sp>
        <p:nvSpPr>
          <p:cNvPr id="295" name="Google Shape;295;p50"/>
          <p:cNvSpPr txBox="1"/>
          <p:nvPr>
            <p:ph idx="1" type="body"/>
          </p:nvPr>
        </p:nvSpPr>
        <p:spPr>
          <a:xfrm>
            <a:off x="311700" y="1152475"/>
            <a:ext cx="85206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Rapid </a:t>
            </a:r>
            <a:r>
              <a:rPr lang="en" u="sng">
                <a:solidFill>
                  <a:schemeClr val="dk1"/>
                </a:solidFill>
              </a:rPr>
              <a:t>feedback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chemeClr val="dk1"/>
                </a:solidFill>
              </a:rPr>
              <a:t>Simplicity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Incremental change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Embrace change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Quality work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6" name="Google Shape;296;p50"/>
          <p:cNvSpPr txBox="1"/>
          <p:nvPr/>
        </p:nvSpPr>
        <p:spPr>
          <a:xfrm>
            <a:off x="3521661" y="1243863"/>
            <a:ext cx="2611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Directly from “core” values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50"/>
          <p:cNvCxnSpPr/>
          <p:nvPr/>
        </p:nvCxnSpPr>
        <p:spPr>
          <a:xfrm rot="10800000">
            <a:off x="2607261" y="1348446"/>
            <a:ext cx="914400" cy="57000"/>
          </a:xfrm>
          <a:prstGeom prst="straightConnector1">
            <a:avLst/>
          </a:prstGeom>
          <a:noFill/>
          <a:ln cap="flat" cmpd="sng" w="143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50"/>
          <p:cNvCxnSpPr/>
          <p:nvPr/>
        </p:nvCxnSpPr>
        <p:spPr>
          <a:xfrm flipH="1">
            <a:off x="2035761" y="1405446"/>
            <a:ext cx="1485900" cy="285900"/>
          </a:xfrm>
          <a:prstGeom prst="straightConnector1">
            <a:avLst/>
          </a:prstGeom>
          <a:noFill/>
          <a:ln cap="flat" cmpd="sng" w="143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1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XP’s 12 Key Practices</a:t>
            </a:r>
            <a:endParaRPr/>
          </a:p>
        </p:txBody>
      </p:sp>
      <p:sp>
        <p:nvSpPr>
          <p:cNvPr id="304" name="Google Shape;304;p51"/>
          <p:cNvSpPr txBox="1"/>
          <p:nvPr/>
        </p:nvSpPr>
        <p:spPr>
          <a:xfrm>
            <a:off x="311700" y="1196000"/>
            <a:ext cx="8520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 game (small units of requirements)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Onsite customer (immediate and better feedback)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Metaphor (use one set of metaphor for design/architecture)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design (just enough to cover what’s needed)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standard (facilitates better communication)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Collective code ownership (peer pressure to improve code)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 programming (feedback and shared improvements)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Refactoring (continuous examination for duplicative design/code)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functional and unit testing (100% completion)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Small/short releases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integration (integrating of small releases)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40-hour work week (high morale and energy level)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51"/>
          <p:cNvSpPr txBox="1"/>
          <p:nvPr/>
        </p:nvSpPr>
        <p:spPr>
          <a:xfrm>
            <a:off x="7050065" y="2010279"/>
            <a:ext cx="1296300" cy="14775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“human”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aspects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Programming “Process” </a:t>
            </a:r>
            <a:endParaRPr/>
          </a:p>
        </p:txBody>
      </p:sp>
      <p:sp>
        <p:nvSpPr>
          <p:cNvPr id="311" name="Google Shape;311;p52"/>
          <p:cNvSpPr/>
          <p:nvPr/>
        </p:nvSpPr>
        <p:spPr>
          <a:xfrm>
            <a:off x="4424022" y="1440941"/>
            <a:ext cx="1229700" cy="323700"/>
          </a:xfrm>
          <a:prstGeom prst="rect">
            <a:avLst/>
          </a:prstGeom>
          <a:solidFill>
            <a:srgbClr val="E1E1E1"/>
          </a:solidFill>
          <a:ln cap="flat" cmpd="sng" w="16200">
            <a:solidFill>
              <a:srgbClr val="3C474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825" lIns="77675" spcFirstLastPara="1" rIns="77675" wrap="square" tIns="38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Design</a:t>
            </a:r>
            <a:endParaRPr sz="1189"/>
          </a:p>
        </p:txBody>
      </p:sp>
      <p:sp>
        <p:nvSpPr>
          <p:cNvPr id="312" name="Google Shape;312;p52"/>
          <p:cNvSpPr/>
          <p:nvPr/>
        </p:nvSpPr>
        <p:spPr>
          <a:xfrm>
            <a:off x="1057627" y="2929914"/>
            <a:ext cx="1229700" cy="323700"/>
          </a:xfrm>
          <a:prstGeom prst="rect">
            <a:avLst/>
          </a:prstGeom>
          <a:solidFill>
            <a:srgbClr val="E1E1E1"/>
          </a:solidFill>
          <a:ln cap="flat" cmpd="sng" w="16200">
            <a:solidFill>
              <a:srgbClr val="3C474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825" lIns="77675" spcFirstLastPara="1" rIns="77675" wrap="square" tIns="38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Metaphors</a:t>
            </a:r>
            <a:endParaRPr sz="1189"/>
          </a:p>
        </p:txBody>
      </p:sp>
      <p:cxnSp>
        <p:nvCxnSpPr>
          <p:cNvPr id="313" name="Google Shape;313;p52"/>
          <p:cNvCxnSpPr/>
          <p:nvPr/>
        </p:nvCxnSpPr>
        <p:spPr>
          <a:xfrm>
            <a:off x="1899226" y="1570417"/>
            <a:ext cx="518100" cy="7122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52"/>
          <p:cNvCxnSpPr/>
          <p:nvPr/>
        </p:nvCxnSpPr>
        <p:spPr>
          <a:xfrm flipH="1" rot="10800000">
            <a:off x="1963964" y="2476614"/>
            <a:ext cx="323700" cy="4533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52"/>
          <p:cNvSpPr/>
          <p:nvPr/>
        </p:nvSpPr>
        <p:spPr>
          <a:xfrm>
            <a:off x="3129255" y="1440941"/>
            <a:ext cx="1229700" cy="323700"/>
          </a:xfrm>
          <a:prstGeom prst="rect">
            <a:avLst/>
          </a:prstGeom>
          <a:solidFill>
            <a:srgbClr val="E1E1E1"/>
          </a:solidFill>
          <a:ln cap="flat" cmpd="sng" w="16200">
            <a:solidFill>
              <a:srgbClr val="3C474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825" lIns="77675" spcFirstLastPara="1" rIns="77675" wrap="square" tIns="38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Coding standards</a:t>
            </a:r>
            <a:endParaRPr sz="1189"/>
          </a:p>
        </p:txBody>
      </p:sp>
      <p:sp>
        <p:nvSpPr>
          <p:cNvPr id="316" name="Google Shape;316;p52"/>
          <p:cNvSpPr txBox="1"/>
          <p:nvPr/>
        </p:nvSpPr>
        <p:spPr>
          <a:xfrm>
            <a:off x="2287657" y="2217797"/>
            <a:ext cx="8190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825" lIns="77675" spcFirstLastPara="1" rIns="77675" wrap="square" tIns="388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5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  <a:endParaRPr sz="1189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5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</a:t>
            </a:r>
            <a:endParaRPr sz="1189"/>
          </a:p>
        </p:txBody>
      </p:sp>
      <p:sp>
        <p:nvSpPr>
          <p:cNvPr id="317" name="Google Shape;317;p52"/>
          <p:cNvSpPr/>
          <p:nvPr/>
        </p:nvSpPr>
        <p:spPr>
          <a:xfrm>
            <a:off x="2935040" y="3188866"/>
            <a:ext cx="1229700" cy="323700"/>
          </a:xfrm>
          <a:prstGeom prst="rect">
            <a:avLst/>
          </a:prstGeom>
          <a:solidFill>
            <a:srgbClr val="E1E1E1"/>
          </a:solidFill>
          <a:ln cap="flat" cmpd="sng" w="16200">
            <a:solidFill>
              <a:srgbClr val="3C474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825" lIns="77675" spcFirstLastPara="1" rIns="77675" wrap="square" tIns="38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Refactoring</a:t>
            </a:r>
            <a:endParaRPr sz="1189"/>
          </a:p>
        </p:txBody>
      </p:sp>
      <p:sp>
        <p:nvSpPr>
          <p:cNvPr id="318" name="Google Shape;318;p52"/>
          <p:cNvSpPr txBox="1"/>
          <p:nvPr/>
        </p:nvSpPr>
        <p:spPr>
          <a:xfrm>
            <a:off x="4165068" y="2282535"/>
            <a:ext cx="15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825" lIns="77675" spcFirstLastPara="1" rIns="77675" wrap="square" tIns="388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59">
              <a:solidFill>
                <a:srgbClr val="3C47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59">
              <a:solidFill>
                <a:srgbClr val="3C47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52"/>
          <p:cNvSpPr txBox="1"/>
          <p:nvPr/>
        </p:nvSpPr>
        <p:spPr>
          <a:xfrm>
            <a:off x="3388208" y="2347272"/>
            <a:ext cx="15066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825" lIns="77675" spcFirstLastPara="1" rIns="77675" wrap="square" tIns="388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5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 Programming</a:t>
            </a:r>
            <a:endParaRPr sz="1189"/>
          </a:p>
        </p:txBody>
      </p:sp>
      <p:sp>
        <p:nvSpPr>
          <p:cNvPr id="320" name="Google Shape;320;p52"/>
          <p:cNvSpPr txBox="1"/>
          <p:nvPr/>
        </p:nvSpPr>
        <p:spPr>
          <a:xfrm>
            <a:off x="5395098" y="2347272"/>
            <a:ext cx="17895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825" lIns="77675" spcFirstLastPara="1" rIns="77675" wrap="square" tIns="388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5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&amp;Unit Test</a:t>
            </a:r>
            <a:endParaRPr sz="1189"/>
          </a:p>
        </p:txBody>
      </p:sp>
      <p:cxnSp>
        <p:nvCxnSpPr>
          <p:cNvPr id="321" name="Google Shape;321;p52"/>
          <p:cNvCxnSpPr/>
          <p:nvPr/>
        </p:nvCxnSpPr>
        <p:spPr>
          <a:xfrm>
            <a:off x="3841377" y="1764631"/>
            <a:ext cx="194400" cy="6474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52"/>
          <p:cNvCxnSpPr/>
          <p:nvPr/>
        </p:nvCxnSpPr>
        <p:spPr>
          <a:xfrm flipH="1">
            <a:off x="4423829" y="1764631"/>
            <a:ext cx="518100" cy="6474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52"/>
          <p:cNvCxnSpPr/>
          <p:nvPr/>
        </p:nvCxnSpPr>
        <p:spPr>
          <a:xfrm flipH="1" rot="10800000">
            <a:off x="3388208" y="2670766"/>
            <a:ext cx="453300" cy="5181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" name="Google Shape;324;p52"/>
          <p:cNvSpPr/>
          <p:nvPr/>
        </p:nvSpPr>
        <p:spPr>
          <a:xfrm>
            <a:off x="4682975" y="3253603"/>
            <a:ext cx="1229700" cy="323700"/>
          </a:xfrm>
          <a:prstGeom prst="rect">
            <a:avLst/>
          </a:prstGeom>
          <a:solidFill>
            <a:srgbClr val="E1E1E1"/>
          </a:solidFill>
          <a:ln cap="flat" cmpd="sng" w="16200">
            <a:solidFill>
              <a:srgbClr val="3C474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825" lIns="77675" spcFirstLastPara="1" rIns="77675" wrap="square" tIns="38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Collective Code</a:t>
            </a:r>
            <a:endParaRPr sz="1189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Ownership</a:t>
            </a:r>
            <a:endParaRPr sz="1189"/>
          </a:p>
        </p:txBody>
      </p:sp>
      <p:cxnSp>
        <p:nvCxnSpPr>
          <p:cNvPr id="325" name="Google Shape;325;p52"/>
          <p:cNvCxnSpPr/>
          <p:nvPr/>
        </p:nvCxnSpPr>
        <p:spPr>
          <a:xfrm rot="10800000">
            <a:off x="4553729" y="2541466"/>
            <a:ext cx="388200" cy="6474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52"/>
          <p:cNvCxnSpPr/>
          <p:nvPr/>
        </p:nvCxnSpPr>
        <p:spPr>
          <a:xfrm flipH="1" rot="10800000">
            <a:off x="5459836" y="2606266"/>
            <a:ext cx="453300" cy="5826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52"/>
          <p:cNvSpPr txBox="1"/>
          <p:nvPr/>
        </p:nvSpPr>
        <p:spPr>
          <a:xfrm>
            <a:off x="6366174" y="3059390"/>
            <a:ext cx="1842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825" lIns="77675" spcFirstLastPara="1" rIns="77675" wrap="square" tIns="388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5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Integration</a:t>
            </a:r>
            <a:endParaRPr sz="1189"/>
          </a:p>
        </p:txBody>
      </p:sp>
      <p:cxnSp>
        <p:nvCxnSpPr>
          <p:cNvPr id="328" name="Google Shape;328;p52"/>
          <p:cNvCxnSpPr/>
          <p:nvPr/>
        </p:nvCxnSpPr>
        <p:spPr>
          <a:xfrm>
            <a:off x="2999778" y="2541486"/>
            <a:ext cx="388200" cy="0"/>
          </a:xfrm>
          <a:prstGeom prst="straightConnector1">
            <a:avLst/>
          </a:prstGeom>
          <a:noFill/>
          <a:ln cap="flat" cmpd="sng" w="32350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52"/>
          <p:cNvCxnSpPr/>
          <p:nvPr/>
        </p:nvCxnSpPr>
        <p:spPr>
          <a:xfrm>
            <a:off x="5006667" y="2541486"/>
            <a:ext cx="388200" cy="0"/>
          </a:xfrm>
          <a:prstGeom prst="straightConnector1">
            <a:avLst/>
          </a:prstGeom>
          <a:noFill/>
          <a:ln cap="flat" cmpd="sng" w="32350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52"/>
          <p:cNvCxnSpPr/>
          <p:nvPr/>
        </p:nvCxnSpPr>
        <p:spPr>
          <a:xfrm flipH="1">
            <a:off x="7401979" y="2800438"/>
            <a:ext cx="323700" cy="323700"/>
          </a:xfrm>
          <a:prstGeom prst="straightConnector1">
            <a:avLst/>
          </a:prstGeom>
          <a:noFill/>
          <a:ln cap="flat" cmpd="sng" w="32350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52"/>
          <p:cNvCxnSpPr/>
          <p:nvPr/>
        </p:nvCxnSpPr>
        <p:spPr>
          <a:xfrm>
            <a:off x="7143033" y="2541486"/>
            <a:ext cx="388200" cy="0"/>
          </a:xfrm>
          <a:prstGeom prst="straightConnector1">
            <a:avLst/>
          </a:prstGeom>
          <a:noFill/>
          <a:ln cap="flat" cmpd="sng" w="32350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52"/>
          <p:cNvSpPr txBox="1"/>
          <p:nvPr/>
        </p:nvSpPr>
        <p:spPr>
          <a:xfrm>
            <a:off x="7470773" y="2347272"/>
            <a:ext cx="909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825" lIns="77675" spcFirstLastPara="1" rIns="77675" wrap="square" tIns="388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 u="sng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Small/short</a:t>
            </a:r>
            <a:endParaRPr sz="1189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 u="sng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</a:t>
            </a:r>
            <a:endParaRPr sz="1189"/>
          </a:p>
        </p:txBody>
      </p:sp>
      <p:cxnSp>
        <p:nvCxnSpPr>
          <p:cNvPr id="333" name="Google Shape;333;p52"/>
          <p:cNvCxnSpPr/>
          <p:nvPr/>
        </p:nvCxnSpPr>
        <p:spPr>
          <a:xfrm>
            <a:off x="7143033" y="3318341"/>
            <a:ext cx="0" cy="582600"/>
          </a:xfrm>
          <a:prstGeom prst="straightConnector1">
            <a:avLst/>
          </a:prstGeom>
          <a:noFill/>
          <a:ln cap="flat" cmpd="sng" w="32350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" name="Google Shape;334;p52"/>
          <p:cNvSpPr txBox="1"/>
          <p:nvPr/>
        </p:nvSpPr>
        <p:spPr>
          <a:xfrm>
            <a:off x="6884081" y="3965721"/>
            <a:ext cx="650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825" lIns="77675" spcFirstLastPara="1" rIns="77675" wrap="square" tIns="388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 u="sng">
                <a:solidFill>
                  <a:srgbClr val="3C47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</a:t>
            </a:r>
            <a:endParaRPr sz="1189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 u="sng">
                <a:solidFill>
                  <a:srgbClr val="3C47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</a:t>
            </a:r>
            <a:endParaRPr sz="1189"/>
          </a:p>
        </p:txBody>
      </p:sp>
      <p:cxnSp>
        <p:nvCxnSpPr>
          <p:cNvPr id="335" name="Google Shape;335;p52"/>
          <p:cNvCxnSpPr/>
          <p:nvPr/>
        </p:nvCxnSpPr>
        <p:spPr>
          <a:xfrm rot="10800000">
            <a:off x="7790417" y="1181772"/>
            <a:ext cx="0" cy="11655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52"/>
          <p:cNvCxnSpPr/>
          <p:nvPr/>
        </p:nvCxnSpPr>
        <p:spPr>
          <a:xfrm rot="10800000">
            <a:off x="928217" y="1181989"/>
            <a:ext cx="6862200" cy="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52"/>
          <p:cNvCxnSpPr/>
          <p:nvPr/>
        </p:nvCxnSpPr>
        <p:spPr>
          <a:xfrm>
            <a:off x="928150" y="1181989"/>
            <a:ext cx="0" cy="11007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52"/>
          <p:cNvCxnSpPr/>
          <p:nvPr/>
        </p:nvCxnSpPr>
        <p:spPr>
          <a:xfrm>
            <a:off x="928150" y="2282534"/>
            <a:ext cx="712200" cy="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p52"/>
          <p:cNvCxnSpPr/>
          <p:nvPr/>
        </p:nvCxnSpPr>
        <p:spPr>
          <a:xfrm rot="10800000">
            <a:off x="6042481" y="2152810"/>
            <a:ext cx="0" cy="2592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52"/>
          <p:cNvCxnSpPr/>
          <p:nvPr/>
        </p:nvCxnSpPr>
        <p:spPr>
          <a:xfrm rot="10800000">
            <a:off x="3388081" y="2153058"/>
            <a:ext cx="2654400" cy="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52"/>
          <p:cNvCxnSpPr/>
          <p:nvPr/>
        </p:nvCxnSpPr>
        <p:spPr>
          <a:xfrm>
            <a:off x="3388208" y="2153058"/>
            <a:ext cx="0" cy="3237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42" name="Google Shape;342;p52"/>
          <p:cNvSpPr/>
          <p:nvPr/>
        </p:nvSpPr>
        <p:spPr>
          <a:xfrm>
            <a:off x="1057627" y="1311465"/>
            <a:ext cx="1229700" cy="323700"/>
          </a:xfrm>
          <a:prstGeom prst="rect">
            <a:avLst/>
          </a:prstGeom>
          <a:solidFill>
            <a:srgbClr val="E1E1E1"/>
          </a:solidFill>
          <a:ln cap="flat" cmpd="sng" w="16200">
            <a:solidFill>
              <a:srgbClr val="3C474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825" lIns="77675" spcFirstLastPara="1" rIns="77675" wrap="square" tIns="38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Onsite Customers</a:t>
            </a:r>
            <a:endParaRPr sz="1189"/>
          </a:p>
        </p:txBody>
      </p:sp>
      <p:sp>
        <p:nvSpPr>
          <p:cNvPr id="343" name="Google Shape;343;p52"/>
          <p:cNvSpPr/>
          <p:nvPr/>
        </p:nvSpPr>
        <p:spPr>
          <a:xfrm>
            <a:off x="1510795" y="4677838"/>
            <a:ext cx="5826300" cy="388200"/>
          </a:xfrm>
          <a:prstGeom prst="ellipse">
            <a:avLst/>
          </a:prstGeom>
          <a:solidFill>
            <a:srgbClr val="E1E1E1"/>
          </a:solidFill>
          <a:ln cap="flat" cmpd="sng" w="21600">
            <a:solidFill>
              <a:srgbClr val="3C4743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38825" lIns="77675" spcFirstLastPara="1" rIns="77675" wrap="square" tIns="38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9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Adhere to 40-hour work week as much as possible ! --</a:t>
            </a:r>
            <a:r>
              <a:rPr b="1" lang="en" sz="1359">
                <a:solidFill>
                  <a:srgbClr val="3C47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sustainable pace</a:t>
            </a:r>
            <a:endParaRPr sz="1189"/>
          </a:p>
        </p:txBody>
      </p:sp>
      <p:cxnSp>
        <p:nvCxnSpPr>
          <p:cNvPr id="344" name="Google Shape;344;p52"/>
          <p:cNvCxnSpPr/>
          <p:nvPr/>
        </p:nvCxnSpPr>
        <p:spPr>
          <a:xfrm>
            <a:off x="5654051" y="1699893"/>
            <a:ext cx="2007000" cy="7122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52"/>
          <p:cNvCxnSpPr/>
          <p:nvPr/>
        </p:nvCxnSpPr>
        <p:spPr>
          <a:xfrm flipH="1" rot="10800000">
            <a:off x="2287656" y="2606214"/>
            <a:ext cx="1294800" cy="323700"/>
          </a:xfrm>
          <a:prstGeom prst="straightConnector1">
            <a:avLst/>
          </a:prstGeom>
          <a:noFill/>
          <a:ln cap="flat" cmpd="sng" w="10775">
            <a:solidFill>
              <a:srgbClr val="3C474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3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Development Process (Currently Popular)</a:t>
            </a:r>
            <a:endParaRPr/>
          </a:p>
        </p:txBody>
      </p:sp>
      <p:sp>
        <p:nvSpPr>
          <p:cNvPr id="351" name="Google Shape;351;p53"/>
          <p:cNvSpPr txBox="1"/>
          <p:nvPr>
            <p:ph idx="1" type="body"/>
          </p:nvPr>
        </p:nvSpPr>
        <p:spPr>
          <a:xfrm>
            <a:off x="311700" y="1152475"/>
            <a:ext cx="8520600" cy="3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First introduced by Takeuchi and Nonaka (Japan) in 1986, modeled after the way rugby game is played.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Ken Schwaber and Mike Beedle published a book, “Agile Software Development with Scrum,” in 2001.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It is an incremental and iterative development approach: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Develops small “sprints,” or increments (of features) in a short cycle of about 2–3 weeks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There are three main roles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u="sng">
                <a:solidFill>
                  <a:schemeClr val="dk1"/>
                </a:solidFill>
              </a:rPr>
              <a:t>Product Owner</a:t>
            </a:r>
            <a:r>
              <a:rPr lang="en" sz="1800">
                <a:solidFill>
                  <a:schemeClr val="dk1"/>
                </a:solidFill>
              </a:rPr>
              <a:t> who talks to and decides with users about the content of each sprint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u="sng">
                <a:solidFill>
                  <a:schemeClr val="dk1"/>
                </a:solidFill>
              </a:rPr>
              <a:t>Scrum Master</a:t>
            </a:r>
            <a:r>
              <a:rPr lang="en" sz="1800">
                <a:solidFill>
                  <a:schemeClr val="dk1"/>
                </a:solidFill>
              </a:rPr>
              <a:t> who runs the sprints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u="sng">
                <a:solidFill>
                  <a:schemeClr val="dk1"/>
                </a:solidFill>
              </a:rPr>
              <a:t>Scrum Team</a:t>
            </a:r>
            <a:r>
              <a:rPr lang="en" sz="1800">
                <a:solidFill>
                  <a:schemeClr val="dk1"/>
                </a:solidFill>
              </a:rPr>
              <a:t> of about 7–8 members who develop the sprint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4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for Discussion</a:t>
            </a:r>
            <a:endParaRPr/>
          </a:p>
        </p:txBody>
      </p:sp>
      <p:sp>
        <p:nvSpPr>
          <p:cNvPr id="357" name="Google Shape;357;p54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Where would you still choose Waterfall today?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